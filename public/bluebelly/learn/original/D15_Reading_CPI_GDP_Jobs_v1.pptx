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ls.gov/cpi/questions-and-answers.htm" TargetMode="External"/><Relationship Id="rId2" Type="http://schemas.openxmlformats.org/officeDocument/2006/relationships/hyperlink" Target="https://www.bea.gov/resources/learning-center/what-to-know-gdp" TargetMode="External"/><Relationship Id="rId3" Type="http://schemas.openxmlformats.org/officeDocument/2006/relationships/hyperlink" Target="https://www.bls.gov/news.release/empsit.faq.htm" TargetMode="External"/><Relationship Id="rId4" Type="http://schemas.openxmlformats.org/officeDocument/2006/relationships/hyperlink" Target="https://www.bea.gov/data/personal-consumption-expenditures-price-index" TargetMode="External"/><Relationship Id="rId5" Type="http://schemas.openxmlformats.org/officeDocument/2006/relationships/hyperlink" Target="https://app.notion.com/p/409519b67a948152acd5d32c4ca855e9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THE CALENDAR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Reading the Economy: CPI, GDP and Jobs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66420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economic releases become market surprises, not misleading headlines.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2286000"/>
            <a:ext cx="10927080" cy="3127248"/>
          </a:xfrm>
          <a:prstGeom prst="roundRect">
            <a:avLst>
              <a:gd name="adj" fmla="val 4678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0241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NUMBER IS NOT ITS INTERPRETATION.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1832" y="359359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unit, comparison, revisions, market benchmark and timing before the reaction.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8096" y="5769864"/>
            <a:ext cx="5212080" cy="301752"/>
          </a:xfrm>
          <a:prstGeom prst="roundRect">
            <a:avLst>
              <a:gd name="adj" fmla="val 48485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76986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STORY-FIRST  /  ORIGINAL DIAGRAMS  /  SOURCE-LINKED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THE FIRST MISTAKE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can “good” data trigger a selloff?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10789920" cy="2953512"/>
          </a:xfrm>
          <a:prstGeom prst="roundRect">
            <a:avLst>
              <a:gd name="adj" fmla="val 4954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307592" y="2615184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“GDP beat expectations. Why are stocks falling?”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353312" y="459943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Prices react to the surprise and its effect on policy, valuation and prior positioning.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RELEASE PRE-FLIGHT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questions before reading any economic headline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995221" cy="2212848"/>
          </a:xfrm>
          <a:prstGeom prst="roundRect">
            <a:avLst>
              <a:gd name="adj" fmla="val 733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17209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17026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measure?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170261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CPI, core, real GDP, NFP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35301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73045" y="2651760"/>
            <a:ext cx="1995221" cy="2212848"/>
          </a:xfrm>
          <a:prstGeom prst="roundRect">
            <a:avLst>
              <a:gd name="adj" fmla="val 733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7637" y="2843784"/>
            <a:ext cx="17209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019349" y="3364992"/>
            <a:ext cx="17026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period?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19349" y="3941064"/>
            <a:ext cx="170261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MoM, YoY, q/q SAAR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68266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06010" y="2651760"/>
            <a:ext cx="1995221" cy="2212848"/>
          </a:xfrm>
          <a:prstGeom prst="roundRect">
            <a:avLst>
              <a:gd name="adj" fmla="val 733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0602" y="2843784"/>
            <a:ext cx="17209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52314" y="3364992"/>
            <a:ext cx="17026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priced?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2314" y="3941064"/>
            <a:ext cx="170261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pre-release consensus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01230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38974" y="2651760"/>
            <a:ext cx="1995221" cy="2212848"/>
          </a:xfrm>
          <a:prstGeom prst="roundRect">
            <a:avLst>
              <a:gd name="adj" fmla="val 733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03566" y="2843784"/>
            <a:ext cx="17209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85278" y="3364992"/>
            <a:ext cx="17026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changed?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85278" y="3941064"/>
            <a:ext cx="170261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+ previous revisions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334195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71939" y="2651760"/>
            <a:ext cx="1995221" cy="2212848"/>
          </a:xfrm>
          <a:prstGeom prst="roundRect">
            <a:avLst>
              <a:gd name="adj" fmla="val 733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36531" y="2843784"/>
            <a:ext cx="17209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718243" y="3364992"/>
            <a:ext cx="17026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did it trade?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18243" y="3941064"/>
            <a:ext cx="170261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Timestamped assets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substitute a forecast from after publication for pre-release consensus.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INFLATION LENSES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CPI and PCE measure different things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blscpi · beapce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2648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3816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BLS consumer price basket; household spending focus.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25112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26280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 wider personal consumption coverage and different weighting.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37576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757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0456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38744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strips food and energy; persistence lens, not total cost of living.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and core can move in opposite directions. Check which is being quoted.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INFLATION MATH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monthly increase does not equal the annual rate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ANNUALISED ≈ (1+MoM)^12 − 1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(1.003)^12 − 1 = 3.66%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constant +0.3% monthly; historical YoY depends on the actual prior 12 months.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MoM, YoY and annualised rates answer different questions.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BASE EFFECT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falling YoY rate need not mean prices fall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YEAR-ON-YEAR SLOWS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prices may still rise, just more slowly than the same month a year earlier.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LEVEL FALLS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Deflation means the relevant price index itself declines, not merely a lower inflation rate.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Disinflation is not deflation.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US GDP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GDP reports are usually annualised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bea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 SAAR → q/q = (1.04)^(1/4) − 1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0.985% QUARTERLY REAL GROWTH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4% SAAR. Real strips inflation; nominal does not.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GDP advance, second and third estimates use improving information.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GDP COMPOSITION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strong headline can hide a weak domestic 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CONSUMPTION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 demand and real income durability.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96996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699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9876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98164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fixed spending, housing, inventory swing.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82512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Federal, state and local purchases.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65692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569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8EBCE5"/>
          </a:solidFill>
          <a:ln w="12700">
            <a:solidFill>
              <a:srgbClr val="8EBCE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B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EXPORTS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66860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Imports subtract in the expenditure identity; interpret with consumption and inventory.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final sales to private domestic purchasers, not headline GDP alone.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TWO JOBS SURVEYS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jobs growth and unemployment may disagree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blsjobs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Nonfarm payrolls measure jobs at businesses and other establishments.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Unemployment and labour participation are derived from people/household survey.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populations, samples and sampling errors; not proof one is fake.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JOBS DETAIL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payroll headline is not the labour market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5973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2432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 the prior two months been revised?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" y="315468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826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unemployment rising because more people seek jobs?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97764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056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 &amp; wages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40782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average hours and hourly earnings cooling?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" y="480060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9286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Breadth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23360" y="4901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jobs concentrated in a few industries?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BEAT / MISS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real economic calendar needs these columns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14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PREVIOUS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3957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original prior release, and revised value.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29900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99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CONSENSUS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0815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and timestamp before publication.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85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ACTUAL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37673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agency measure, unit and release time.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43616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71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 DIFFERENCE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4531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minus comparable expectation.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50474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572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 REPRICING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51389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2Y/10Y, DXY, gold and equity prices reacted.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“beat” is a statistical comparison, not a guaranteed bullish trade.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READ THE REACTION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 the plausible policy transmission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 inflation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Real/nominal rate path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yields?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tenor and breakeven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Currency?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USD, yen, relative rates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Equity?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 vs earnings &amp; sector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and oil can add contradictory signals; test rather than force an explanation.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WHEN DATA MISLEADS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release may not explain the entire session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POST-RELEASE 5 MIN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immediate announcement repricing, provided prices/quotes are matched.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CLOSE-TO-CLOSE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contains other events, positioning, opening gaps and late commentary.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“followed” rather than “caused” when mechanism evidence is missing.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RETRIEVAL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arithmetic and method checks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258568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2359152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+0.3% MoM annualised at same monthly rate?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05672" y="23408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3.66%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300984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 real GDP SAAR means actual q/q growth?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05672" y="32826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0.985%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142232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06824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2768" y="4242816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US unemployment rate come from?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05672" y="422452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 survey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Challenge: can a data beat still be dovish relative to priced expectations? Yes.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 /   FREE FURTHER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 to the original statistical releases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D15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914400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BLS CPI FAQ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3500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and annual index measurement conventions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889504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914400" y="2980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BEA GDP learning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2971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GDP, revisions, real versus current-dollar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511296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914400" y="3602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BLS Jobs FAQ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5935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 and establishment samples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133088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914400" y="4224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BEA PCE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2153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PCE basket/weighting, Fed target basis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4754880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Text 20">
            <a:hlinkClick r:id="rId5" tooltip=""/>
          </p:cNvPr>
          <p:cNvSpPr/>
          <p:nvPr/>
        </p:nvSpPr>
        <p:spPr>
          <a:xfrm>
            <a:off x="914400" y="4846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L03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48371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Inflation, labour and policy laboratory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833872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7044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works remain outbound links; these decks contain original editorial diagrams and hypothetical exercises.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Bluebelly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the Economy: CPI, GDP and Jobs</dc:title>
  <dc:subject>Original lessons and clearly hypothetical examples; external references linked only.</dc:subject>
  <dc:creator>Bluebelly Learn editorial</dc:creator>
  <cp:lastModifiedBy>Bluebelly Learn editorial</cp:lastModifiedBy>
  <cp:revision>1</cp:revision>
  <dcterms:created xsi:type="dcterms:W3CDTF">2026-10-30T02:01:29Z</dcterms:created>
  <dcterms:modified xsi:type="dcterms:W3CDTF">2026-10-30T02:01:29Z</dcterms:modified>
</cp:coreProperties>
</file>