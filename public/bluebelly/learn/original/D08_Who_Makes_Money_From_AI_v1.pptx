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pages.stern.nyu.edu/~adamodar/New_Home_Page/onlineclass.htm" TargetMode="External"/><Relationship Id="rId2" Type="http://schemas.openxmlformats.org/officeDocument/2006/relationships/hyperlink" Target="https://www.sec.gov/files/investor/pubs/begfinstmtguide.htm" TargetMode="External"/><Relationship Id="rId3" Type="http://schemas.openxmlformats.org/officeDocument/2006/relationships/hyperlink" Target="https://www.investor.gov/introduction-investing/getting-started/researching-investments/how-read-10-k" TargetMode="External"/><Relationship Id="rId4" Type="http://schemas.openxmlformats.org/officeDocument/2006/relationships/hyperlink" Target="https://app.notion.com/p/409519b67a94817a8af3f72a0c9b17f3" TargetMode="External"/><Relationship Id="rId5" Type="http://schemas.openxmlformats.org/officeDocument/2006/relationships/hyperlink" Target="https://app.notion.com/p/409519b67a9481e585f2da903aa58a1a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THE INVESTOR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Actually Making Money From AI?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Shark Tank-style investigation of demand, capex, cash economics and the price paid.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EVERYONE HAS REVENUE. WHO HAS CASH?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boom can be real while its financing, return profile and market valuation diverge.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THE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sales are not the final verdict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 sold the shovels. Who paid for the gold rush — and did they earn a return?”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each cash obligation to the party ultimately funding 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VALUE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economic chain — not just the stock tickers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users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for useful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/ models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 subscriptions or usage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providers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compute capacity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/ power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assets and electricity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party’s sales may be another party’s capital expenditure.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FIVE 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businesses have different unit economics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 SUPPLIER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hardware margins can coexist with customer losses.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OWNER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recover infrastructure costs from paid workloads.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VENDOR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pay for training and inference before monetising.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CUSTOMER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justify software spend with productivity value.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existence of demand is separate from who captures its economic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CONTRACT LADDER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booking is not a bank deposit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deal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 / framework / announcement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 contract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Cancellable? take-or-pay?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service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recognition rules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collected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customer payment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actual contract terms, commitments, credits and counterparty concentration.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REVENUE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Backlog is neither revenue nor cash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INVESTORS LIKE 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firm order or committed future spend can improve demand visibility and production planning.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Timing, credits, concentration, cancellations, collection risk and expensive fulfilment dilute economic value.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contract enforceability and cash collection — not just a backlog headline.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CAPACITY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has to become economically useful utilisation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Installed capacity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Servers, GPUs, network, energy, land and buildings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workload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share of capacity is actually used and paid for?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margin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per compute task minus energy, support and other costs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Replacement cycle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prices and cash returns outrun chip obsolescence?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FINANCIAL STATEMENTS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statements, four different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sec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recognised?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owned / owed?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did cash go?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owners’ claims change?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income, revenue, cash from operations and free cash flow are not synonyms.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FCF WATERFALL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cash-flow statement can challenge the revenue headline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Completely hypothetical company; amounts in USD billions.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sec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cash flow +$60bn  |  Cash PP&amp;E –$75bn  |  Simple FCF –$15bn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2834640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CASH +60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50792" y="2834640"/>
            <a:ext cx="6675120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0792" y="2834640"/>
            <a:ext cx="5006340" cy="256032"/>
          </a:xfrm>
          <a:prstGeom prst="roundRect">
            <a:avLst>
              <a:gd name="adj" fmla="val 57143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621024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PP&amp;E -75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50792" y="3621024"/>
            <a:ext cx="6675120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3621024"/>
            <a:ext cx="6257925" cy="256032"/>
          </a:xfrm>
          <a:prstGeom prst="roundRect">
            <a:avLst>
              <a:gd name="adj" fmla="val 57143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407408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8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FCF -15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50792" y="4407408"/>
            <a:ext cx="6675120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50792" y="4407408"/>
            <a:ext cx="1251585" cy="256032"/>
          </a:xfrm>
          <a:prstGeom prst="roundRect">
            <a:avLst>
              <a:gd name="adj" fmla="val 57143"/>
            </a:avLst>
          </a:prstGeom>
          <a:solidFill>
            <a:srgbClr val="FF8C7D"/>
          </a:solidFill>
          <a:ln w="12700">
            <a:solidFill>
              <a:srgbClr val="FF8C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issuer-style FCF = CFO − cash PP&amp;E purchases. Definitions differ by issuer.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CASH VS ACCOUNTING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cash-flow test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FCF = CFO − CASH PP&amp;E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$60bn − $75bn = −$15bn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example of a heavy build-out, not evidence a real company is failing.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FCF alone is neither a fraud test nor a final business verdict.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LEASES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simple calculation might miss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sec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PP&amp;E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purchased with cash is normally an investing cash-flow outflow, subject to statement presentation.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LEASES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additions and principal payments can follow different balance-sheet/cash-flow treatment. Read the notes.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issuers after normalising definitions, funding vehicles and timing.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DEPRECIATION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life is an assumption with real consequences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PROFIT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Capitalised asset cost is typically expensed over a useful life. Estimate changes can affect period earnings.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REALITY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may still need replacing sooner due to performance-per-watt improvements or product demand.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Depreciation policy does not prove physical chip life or investment payback.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TIME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FCF is not trailing-twelve-month FCF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TTM = Q1 + Q2 + Q3 + Q4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−$4bn + $3bn − $6bn − $8bn = −$15bn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four-quarter sequence; label the exact reporting dates in real comparisons.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quarterly number can be influenced by delivery and payment timing.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SUPPLIER VS BUYER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supplier can win before the customer proves its ROI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NOW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product revenue if delivery/recognition criteria are met.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NOW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cash or commits financing to capacity.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LATER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paid task demand and adequate net margins.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hardware cycle can be profitable even if parts of downstream investment disappoint.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CAPITAL RETURNS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new investment actually earn?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adam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ROIC ≈ Δ NOPAT / Δ CAPITAL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&gt; funding cost? Not just revenue &gt; last year.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attribution, tax basis, ramp-up lag and asset-life assumptions.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ROIC and WACC should be compared on a compatible capital/return basis.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GOOD COMPANY / BAD PRICE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Great technology can still be a poor investment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QUALITY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demand, pricing power, sustainable returns, financing resilience and cash conversion.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RETURN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future performance is already assumed by the valuation? What breaks the expectation?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success and share-price upside are different claims.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DEBT AND LIQUIDITY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financing questions the Sharks would 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sec10k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 maturity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due before the capacity pays for itself?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Cash, committed facilities and covenant headroom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burden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repayments and future infrastructure needs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reliance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one strategic counterparty slows?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CIRCULARITY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AI spending can circulate within the same ecosystem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provider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Invests or supplies credits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company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Buys cloud / chips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vendor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Recognises contracted sales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test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end-customer cash?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Circularity is a diligence question. Do not call a deal fraudulent without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THREE FUTURES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capex boom can end three 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workloads monetise; utilisation and FCF improve.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grows, but margins and returns compress.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DOWNSIDE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overshoots; financing tightens; replacement spend persists.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 are conditional branches, not asserted probabilities.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CONFIRM / INVALIDATE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actually settle the debate?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conversion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CFO, cash capex, lease principal on comparable bases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utilisation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workloads, cash collections, gross margin quality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returns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return above relevant cost of capital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risk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 maturity, covenants, financing costs and customer concentration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INVESTOR COMMITTEE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bull and bear each need better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 CASE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creates durable paid savings; higher future margins justify front-loaded investment.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 CASE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reflects competitive pressure and interdependent financing; future free cash flow fails to catch up.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mistake a conclusion about profitability for a recommendation on entry price.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DUE DILIGENCE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five-question investor card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WHO PAYS?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end payer and what is already collected.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WHO PROFITS?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durable gross margin, operating profit and cash.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WHO FUNDS?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leases, debt, equity issuance and capex schedule.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WHAT PRICE?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scenario cash returns with valuation expectations.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WHAT BREAKS?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demand, obsolescence and financing falsifiers.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Shark Tank lens is a questioning framework, not a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tests that stop bad AI earnings 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 $60bn; cash PP&amp;E $75bn: simple FCF?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−$15bn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$5bn order automatically mean $5bn cash paid?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chip supplier earn more while a buyer earns poor ROI?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Does negative FCF alone prove wrongdoing? No.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 /   NEXT READING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original accounting and finance resources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D08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NYU Damodaran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finance, accounting, corporate finance and valuation lessons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 statement guide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/ balance / cash / equity statements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 10-K guide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the issuer filing, risk factors and footnotes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economics and evidence methodology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statements and investor-test workshop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Actually Making Money From AI?</dc:title>
  <dc:subject>Original educational slide deck. Hypothetical figures and outbound primary-source references.</dc:subject>
  <dc:creator>Bluebelly Learn editorial</dc:creator>
  <cp:lastModifiedBy>Bluebelly Learn editorial</cp:lastModifiedBy>
  <cp:revision>1</cp:revision>
  <dcterms:created xsi:type="dcterms:W3CDTF">2026-10-30T01:29:29Z</dcterms:created>
  <dcterms:modified xsi:type="dcterms:W3CDTF">2026-10-30T01:29:29Z</dcterms:modified>
</cp:coreProperties>
</file>