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reasurydirect.gov/marketable-securities/understanding-pricing/" TargetMode="External"/><Relationship Id="rId2" Type="http://schemas.openxmlformats.org/officeDocument/2006/relationships/hyperlink" Target="https://www.finra.org/investors/investing/investment-products/bonds" TargetMode="External"/><Relationship Id="rId3" Type="http://schemas.openxmlformats.org/officeDocument/2006/relationships/hyperlink" Target="https://app.notion.com/p/409519b67a9481129883f42424440e54" TargetMode="External"/><Relationship Id="rId4" Type="http://schemas.openxmlformats.org/officeDocument/2006/relationships/hyperlink" Target="https://app.notion.com/p/409519b67a9481d98bf4f4d2d831b2bd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THE FIRST BOND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Bought a Bond. Who Pays You, and When?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66420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and corporate IOUs, coupons, market price and what can go wrong.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" y="2286000"/>
            <a:ext cx="10927080" cy="3127248"/>
          </a:xfrm>
          <a:prstGeom prst="roundRect">
            <a:avLst>
              <a:gd name="adj" fmla="val 4678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10241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BOND IS A PROMISE. NOT A BANK ACCOUNT.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41832" y="359359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contractual cash flows are different from the price another investor offers today.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8096" y="5769864"/>
            <a:ext cx="5212080" cy="301752"/>
          </a:xfrm>
          <a:prstGeom prst="roundRect">
            <a:avLst>
              <a:gd name="adj" fmla="val 48485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76986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STORY-FIRST  /  ORIGINAL DIAGRAMS  /  SOURCE-LINKED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THE CENTRAL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the bond pays 4%, why can its price fall?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10789920" cy="2953512"/>
          </a:xfrm>
          <a:prstGeom prst="roundRect">
            <a:avLst>
              <a:gd name="adj" fmla="val 4954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307592" y="2615184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receive the same coupon. Why does my investment show a loss?”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353312" y="4599432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market reprices the value of all remaining payments.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CASH FLOW CONTRACT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 the money — and the creditor’s claim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tpricing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or company borrows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lend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the purchase price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scheduled interest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Maturity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 due if issuer pays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bondholder owns a debt claim, not a slice of a company’s future stock upside.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COUPON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coupon is set against face value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tpricing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COUPON = PAR × COUPON RATE</a:t>
            </a:r>
            <a:endParaRPr lang="en-US" sz="3700" dirty="0"/>
          </a:p>
        </p:txBody>
      </p:sp>
      <p:sp>
        <p:nvSpPr>
          <p:cNvPr id="12" name="Text 10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$1,000 × 4% = $40 / year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annual equivalent; US Treasury notes/bonds actually pay semiannually.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4% coupon is not a promise that your total return is 4%.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THREE DIFFERENT RETURNS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bond has several different yield concepts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Coupon rate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fraction of par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yield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coupon ÷ market price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to maturity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flows &amp; maturity price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Realised return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Sale, default, reinvestment &amp; fees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purchase price matters as much as the printed coupon.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YIELD REPRICING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 price discount develops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tpricing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YIELD ↑  →  PRICE ↓</a:t>
            </a:r>
            <a:endParaRPr lang="en-US" sz="3700" dirty="0"/>
          </a:p>
        </p:txBody>
      </p:sp>
      <p:sp>
        <p:nvSpPr>
          <p:cNvPr id="12" name="Text 10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 COUPON &lt; 6% REQUIRED YIELD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Bond price must drop to offer a higher yield on unchanged contractual cash flows.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Selling before maturity may crystallise a mark-to-market loss.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GOVERNMENT VERSUS COMPANY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the borrower able to promise?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finra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/ GOVERNMENT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Sovereign repayment capacity, currency/inflation risk, interest-rate risk and settlement conventions.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ISSUER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Contractual claims against a business; earnings, leverage, refinancing and default/recovery risk.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company is not automatically a risk-free creditor investment.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COMPANY DEFAULT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Creditors do not all stand in the same queue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may be backed by named collateral; priority depends on legal terms.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25112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UNSECURED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26280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company claim above subordinated obligations.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37576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757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0456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SUBORDINATED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38744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recovery priority, often demands extra return.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read actual indentures and insolvency jurisdiction before ranking claims.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CORPORATE SPREAD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 company pays more than a Treasury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YIELD ≈ BASE + SPREAD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4.0% + 2.5% = 6.5%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same-maturity benchmark; real spread includes credit, liquidity and option effects.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250bp premium is compensation for risks, not extra free income.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RATES VERSUS SPREADS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Treasuries can rally while a company bond falls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CORP ≈ Δ TREASURY + Δ SPREAD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−50bp + 120bp = +70bp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matched tenor and spread definition.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rises 70bp, pressuring the corporate bond price.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HIDDEN CONTRACT RISKS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clauses that beginners often miss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CALLABLE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issuer may redeem early; attractive coupons may not last.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96996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699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9876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CONVERTIBLE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98164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be exchangeable for equity; optionality alters value.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COVENANTS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82512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restrictions and triggers can protect or limit holders.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65692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569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8EBCE5"/>
          </a:solidFill>
          <a:ln w="12700">
            <a:solidFill>
              <a:srgbClr val="8EBCE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B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BOND FUNDS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66860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ETF generally does not mature like a bond you hold to maturity.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Yield-to-call and duration can matter more than headline coupon.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TIME RISK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if you hold rather than sell?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TO MATURITY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issuer pays in full, scheduled principal and coupons arrive; reinvestment and inflation remain.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 EARLY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receive market price, which may reflect higher rates, wider spreads, low liquidity or credit deterioration.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holding to maturity does not eliminate credit, inflation or opportunity cost.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CREDIT CHECKLIST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buying a corporate IOU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5973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generation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24323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operations support interest and principal?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" y="315468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2826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Maturity wall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must debt refinance, and at what rate?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397764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056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40782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are you in the legal claim waterfall?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7512" y="480060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9286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23360" y="490118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yield compensate for default, downgrade and liquidity risk?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THREE-MINUTE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you distinguish yield from safety?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258568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2359152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$1,000 par at 4% coupon: annualised coupon?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05672" y="234086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2768" y="3300984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−50bp; credit spread +120bp: issuer yield?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05672" y="3282696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+70bp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142232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06824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2768" y="4242816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bond ETF shares promise par at a set maturity?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05672" y="422452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lesson D02 covers duration, long yields and term premium.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 /   FREE FURTHER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Continue with original sources, not copied slides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914400" y="2359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TreasuryDirect pricing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3500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Par, discount, coupon and YTM explained by issuer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889504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914400" y="2980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FINRA bond guide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2971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bond trading and investor risks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511296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914400" y="3602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L02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5935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yields, credit and liquidity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133088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914400" y="4224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Glossary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42153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Coupon · YTM · Duration · Credit spread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833872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70448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works remain outbound links; these decks contain original editorial diagrams and hypothetical exercises.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Bluebelly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 Bought a Bond. Who Pays You, and When?</dc:title>
  <dc:subject>Original lessons and clearly hypothetical examples; external references linked only.</dc:subject>
  <dc:creator>Bluebelly Learn editorial</dc:creator>
  <cp:lastModifiedBy>Bluebelly Learn editorial</cp:lastModifiedBy>
  <cp:revision>1</cp:revision>
  <dcterms:created xsi:type="dcterms:W3CDTF">2026-10-30T02:01:29Z</dcterms:created>
  <dcterms:modified xsi:type="dcterms:W3CDTF">2026-10-30T02:01:29Z</dcterms:modified>
</cp:coreProperties>
</file>