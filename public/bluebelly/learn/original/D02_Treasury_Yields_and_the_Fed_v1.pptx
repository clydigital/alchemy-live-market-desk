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hyperlink" Target="https://home.treasury.gov/policy-issues/financing-the-government/interest-rate-statistics" TargetMode="External"/><Relationship Id="rId2" Type="http://schemas.openxmlformats.org/officeDocument/2006/relationships/hyperlink" Target="https://www.newyorkfed.org/research/data_indicators/term-premia-tabs" TargetMode="External"/><Relationship Id="rId3" Type="http://schemas.openxmlformats.org/officeDocument/2006/relationships/hyperlink" Target="https://ocw.mit.edu/courses/15-401-finance-theory-i-fall-2008/" TargetMode="External"/><Relationship Id="rId4" Type="http://schemas.openxmlformats.org/officeDocument/2006/relationships/hyperlink" Target="https://www.cmegroup.com/education/courses" TargetMode="External"/><Relationship Id="rId5" Type="http://schemas.openxmlformats.org/officeDocument/2006/relationships/hyperlink" Target="https://app.notion.com/p/409519b67a9481129883f42424440e54" TargetMode="Externa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D02   /   THE PUZZLE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Treasury Yields Don't Simply Follow the Fed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664208"/>
            <a:ext cx="10744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story about bond prices, long-term risk and what markets already expect.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D02  •  BLUEBELLY LEARN  /  v1.0  /  30 OCT 2026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/ 18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03504" y="2286000"/>
            <a:ext cx="10927080" cy="3127248"/>
          </a:xfrm>
          <a:prstGeom prst="roundRect">
            <a:avLst>
              <a:gd name="adj" fmla="val 4678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706624"/>
            <a:ext cx="102412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FED CUTS. LONG YIELDS RISE.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941832" y="3593592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the bond market can move in the opposite direction to the central-bank headline.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68096" y="5769864"/>
            <a:ext cx="5212080" cy="301752"/>
          </a:xfrm>
          <a:prstGeom prst="roundRect">
            <a:avLst>
              <a:gd name="adj" fmla="val 48485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9536" y="5769864"/>
            <a:ext cx="5029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STORY-FIRST  /  ORIGINAL DIAGRAMS  /  SOURCE-LINKED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D02   /   THE INVESTOR REACTION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obvious trade can be the wrong one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D02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/ 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2331720"/>
            <a:ext cx="10789920" cy="2953512"/>
          </a:xfrm>
          <a:prstGeom prst="roundRect">
            <a:avLst>
              <a:gd name="adj" fmla="val 4954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395728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</a:t>
            </a:r>
            <a:endParaRPr lang="en-US" sz="6400" dirty="0"/>
          </a:p>
        </p:txBody>
      </p:sp>
      <p:sp>
        <p:nvSpPr>
          <p:cNvPr id="11" name="Text 9"/>
          <p:cNvSpPr/>
          <p:nvPr/>
        </p:nvSpPr>
        <p:spPr>
          <a:xfrm>
            <a:off x="1307592" y="2615184"/>
            <a:ext cx="96926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“Rates fell. So why did my long bond lose money?”</a:t>
            </a:r>
            <a:endParaRPr lang="en-US" sz="3100" dirty="0"/>
          </a:p>
        </p:txBody>
      </p:sp>
      <p:sp>
        <p:nvSpPr>
          <p:cNvPr id="12" name="Text 10"/>
          <p:cNvSpPr/>
          <p:nvPr/>
        </p:nvSpPr>
        <p:spPr>
          <a:xfrm>
            <a:off x="1353312" y="4599432"/>
            <a:ext cx="9601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Fed sets a short policy rate. Investors price a long series of future outcomes.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D02   /   START WITH THE CASH FLOW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bond is a promise of future cash payments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D02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/ 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0080" y="2651760"/>
            <a:ext cx="2553462" cy="2212848"/>
          </a:xfrm>
          <a:prstGeom prst="roundRect">
            <a:avLst>
              <a:gd name="adj" fmla="val 6612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2843784"/>
            <a:ext cx="22791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86384" y="3364992"/>
            <a:ext cx="22608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86384" y="3941064"/>
            <a:ext cx="226085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 pay a price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193542" y="3712464"/>
            <a:ext cx="223479" cy="0"/>
          </a:xfrm>
          <a:prstGeom prst="line">
            <a:avLst/>
          </a:prstGeom>
          <a:noFill/>
          <a:ln w="25400">
            <a:solidFill>
              <a:srgbClr val="43D4C2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431286" y="2651760"/>
            <a:ext cx="2553462" cy="2212848"/>
          </a:xfrm>
          <a:prstGeom prst="roundRect">
            <a:avLst>
              <a:gd name="adj" fmla="val 6612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95878" y="2843784"/>
            <a:ext cx="22791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577590" y="3364992"/>
            <a:ext cx="22608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During life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577590" y="3941064"/>
            <a:ext cx="226085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Coupons arrive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4748" y="3712464"/>
            <a:ext cx="223479" cy="0"/>
          </a:xfrm>
          <a:prstGeom prst="line">
            <a:avLst/>
          </a:prstGeom>
          <a:noFill/>
          <a:ln w="25400">
            <a:solidFill>
              <a:srgbClr val="43D4C2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222492" y="2651760"/>
            <a:ext cx="2553462" cy="2212848"/>
          </a:xfrm>
          <a:prstGeom prst="roundRect">
            <a:avLst>
              <a:gd name="adj" fmla="val 6612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87084" y="2843784"/>
            <a:ext cx="22791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368796" y="3364992"/>
            <a:ext cx="22608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maturity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368796" y="3941064"/>
            <a:ext cx="226085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Principal returns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775954" y="3712464"/>
            <a:ext cx="223479" cy="0"/>
          </a:xfrm>
          <a:prstGeom prst="line">
            <a:avLst/>
          </a:prstGeom>
          <a:noFill/>
          <a:ln w="25400">
            <a:solidFill>
              <a:srgbClr val="43D4C2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013698" y="2651760"/>
            <a:ext cx="2553462" cy="2212848"/>
          </a:xfrm>
          <a:prstGeom prst="roundRect">
            <a:avLst>
              <a:gd name="adj" fmla="val 6612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78290" y="2843784"/>
            <a:ext cx="22791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160002" y="3364992"/>
            <a:ext cx="22608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between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160002" y="3941064"/>
            <a:ext cx="226085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 value changes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94360" y="5824728"/>
            <a:ext cx="11000232" cy="329184"/>
          </a:xfrm>
          <a:prstGeom prst="roundRect">
            <a:avLst>
              <a:gd name="adj" fmla="val 44444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5861304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Price changes because investors reassess the value of the promised cash flows.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D02   /   PRICE AND YIELD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basic inverse relationship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D02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/ 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2404872"/>
            <a:ext cx="10835640" cy="3044952"/>
          </a:xfrm>
          <a:prstGeom prst="roundRect">
            <a:avLst>
              <a:gd name="adj" fmla="val 4805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670048"/>
            <a:ext cx="1016812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7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PRICE ↑   ⇄   YIELD ↓</a:t>
            </a:r>
            <a:endParaRPr lang="en-US" sz="3700" dirty="0"/>
          </a:p>
        </p:txBody>
      </p:sp>
      <p:sp>
        <p:nvSpPr>
          <p:cNvPr id="11" name="Text 9"/>
          <p:cNvSpPr/>
          <p:nvPr/>
        </p:nvSpPr>
        <p:spPr>
          <a:xfrm>
            <a:off x="987552" y="3685032"/>
            <a:ext cx="10049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$105 in one year / 1.05 = $100.00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1051560" y="4654296"/>
            <a:ext cx="99669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a 4% yield: $105 / 1.04 ≈ $100.96. Same payoff, higher price.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94360" y="5824728"/>
            <a:ext cx="11000232" cy="329184"/>
          </a:xfrm>
          <a:prstGeom prst="roundRect">
            <a:avLst>
              <a:gd name="adj" fmla="val 44444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861304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One-year bond illustration; real coupon-bearing Treasury securities require full discounting.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D02   /   DURATION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the long end reacts more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D02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/ 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2404872"/>
            <a:ext cx="10835640" cy="3044952"/>
          </a:xfrm>
          <a:prstGeom prst="roundRect">
            <a:avLst>
              <a:gd name="adj" fmla="val 4805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670048"/>
            <a:ext cx="1016812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7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 Price ≈ − Duration × Δ Yield</a:t>
            </a:r>
            <a:endParaRPr lang="en-US" sz="3700" dirty="0"/>
          </a:p>
        </p:txBody>
      </p:sp>
      <p:sp>
        <p:nvSpPr>
          <p:cNvPr id="11" name="Text 9"/>
          <p:cNvSpPr/>
          <p:nvPr/>
        </p:nvSpPr>
        <p:spPr>
          <a:xfrm>
            <a:off x="987552" y="3685032"/>
            <a:ext cx="10049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× (+0.005) = approximately −3.5%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1051560" y="4654296"/>
            <a:ext cx="99669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Hypothetical 7-year modified duration; yields rise 50 basis points.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94360" y="5824728"/>
            <a:ext cx="11000232" cy="329184"/>
          </a:xfrm>
          <a:prstGeom prst="roundRect">
            <a:avLst>
              <a:gd name="adj" fmla="val 44444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861304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First-order approximation, before convexity, spread changes and carry.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D02   /   WHO CONTROLS WHAT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policy rate. Many market yields.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D02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/ 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2423160"/>
            <a:ext cx="5294376" cy="2880360"/>
          </a:xfrm>
          <a:prstGeom prst="roundRect">
            <a:avLst>
              <a:gd name="adj" fmla="val 5079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2423160"/>
            <a:ext cx="54864" cy="2880360"/>
          </a:xfrm>
          <a:prstGeom prst="roundRect">
            <a:avLst>
              <a:gd name="adj" fmla="val 266667"/>
            </a:avLst>
          </a:prstGeom>
          <a:solidFill>
            <a:srgbClr val="F6D343"/>
          </a:solidFill>
          <a:ln w="12700">
            <a:solidFill>
              <a:srgbClr val="F6D34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578608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FED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59536" y="3072384"/>
            <a:ext cx="490118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Influences overnight funding conditions and expectations of its future policy path.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17336" y="2423160"/>
            <a:ext cx="5294376" cy="2880360"/>
          </a:xfrm>
          <a:prstGeom prst="roundRect">
            <a:avLst>
              <a:gd name="adj" fmla="val 5079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17336" y="2423160"/>
            <a:ext cx="54864" cy="2880360"/>
          </a:xfrm>
          <a:prstGeom prst="roundRect">
            <a:avLst>
              <a:gd name="adj" fmla="val 266667"/>
            </a:avLst>
          </a:prstGeom>
          <a:solidFill>
            <a:srgbClr val="43D4C2"/>
          </a:solidFill>
          <a:ln w="12700">
            <a:solidFill>
              <a:srgbClr val="43D4C2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0216" y="2578608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MARKET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318504" y="3072384"/>
            <a:ext cx="490118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Prices years of expected short rates, inflation compensation, risk premia, supply and liquidity.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94360" y="5824728"/>
            <a:ext cx="11000232" cy="329184"/>
          </a:xfrm>
          <a:prstGeom prst="roundRect">
            <a:avLst>
              <a:gd name="adj" fmla="val 44444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5861304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“The Fed cut” is one input to the 30-year bond price — not a sufficient explanation.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D02   /   DECOMPOSITION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Two components behind a long nominal yield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D02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/ 18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30352" y="6263640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PATH  term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40080" y="2651760"/>
            <a:ext cx="3483864" cy="2212848"/>
          </a:xfrm>
          <a:prstGeom prst="roundRect">
            <a:avLst>
              <a:gd name="adj" fmla="val 6612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2843784"/>
            <a:ext cx="3209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86384" y="3364992"/>
            <a:ext cx="31912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short rates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86384" y="3941064"/>
            <a:ext cx="31912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average path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123944" y="3712464"/>
            <a:ext cx="223479" cy="0"/>
          </a:xfrm>
          <a:prstGeom prst="line">
            <a:avLst/>
          </a:prstGeom>
          <a:noFill/>
          <a:ln w="25400">
            <a:solidFill>
              <a:srgbClr val="43D4C2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361688" y="2651760"/>
            <a:ext cx="3483864" cy="2212848"/>
          </a:xfrm>
          <a:prstGeom prst="roundRect">
            <a:avLst>
              <a:gd name="adj" fmla="val 6612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26280" y="2843784"/>
            <a:ext cx="3209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507992" y="3364992"/>
            <a:ext cx="31912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 premium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507992" y="3941064"/>
            <a:ext cx="31912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Compensation for holding duration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845552" y="3712464"/>
            <a:ext cx="223479" cy="0"/>
          </a:xfrm>
          <a:prstGeom prst="line">
            <a:avLst/>
          </a:prstGeom>
          <a:noFill/>
          <a:ln w="25400">
            <a:solidFill>
              <a:srgbClr val="43D4C2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083296" y="2651760"/>
            <a:ext cx="3483864" cy="2212848"/>
          </a:xfrm>
          <a:prstGeom prst="roundRect">
            <a:avLst>
              <a:gd name="adj" fmla="val 6612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47888" y="2843784"/>
            <a:ext cx="3209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229600" y="3364992"/>
            <a:ext cx="31912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Observed yield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229600" y="3941064"/>
            <a:ext cx="31912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combined market quotation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4360" y="5824728"/>
            <a:ext cx="11000232" cy="329184"/>
          </a:xfrm>
          <a:prstGeom prst="roundRect">
            <a:avLst>
              <a:gd name="adj" fmla="val 44444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" y="5861304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term premium is model-estimated, not directly quoted by an exchange.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D02   /   RISK PREMIUM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Term premium is useful — and uncertain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D02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/ 18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30352" y="6263640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PATH  term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58368" y="2423160"/>
            <a:ext cx="5294376" cy="2880360"/>
          </a:xfrm>
          <a:prstGeom prst="roundRect">
            <a:avLst>
              <a:gd name="adj" fmla="val 5079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2423160"/>
            <a:ext cx="54864" cy="2880360"/>
          </a:xfrm>
          <a:prstGeom prst="roundRect">
            <a:avLst>
              <a:gd name="adj" fmla="val 266667"/>
            </a:avLst>
          </a:prstGeom>
          <a:solidFill>
            <a:srgbClr val="F6D343"/>
          </a:solidFill>
          <a:ln w="12700">
            <a:solidFill>
              <a:srgbClr val="F6D34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2578608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IT HELPS EXPLAIN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59536" y="3072384"/>
            <a:ext cx="490118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investors can disagree on the compensation required to hold long bonds even with similar short-rate forecasts.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17336" y="2423160"/>
            <a:ext cx="5294376" cy="2880360"/>
          </a:xfrm>
          <a:prstGeom prst="roundRect">
            <a:avLst>
              <a:gd name="adj" fmla="val 5079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17336" y="2423160"/>
            <a:ext cx="54864" cy="2880360"/>
          </a:xfrm>
          <a:prstGeom prst="roundRect">
            <a:avLst>
              <a:gd name="adj" fmla="val 266667"/>
            </a:avLst>
          </a:prstGeom>
          <a:solidFill>
            <a:srgbClr val="43D4C2"/>
          </a:solidFill>
          <a:ln w="12700">
            <a:solidFill>
              <a:srgbClr val="43D4C2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0216" y="2578608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IT CANNOT PROVE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318504" y="3072384"/>
            <a:ext cx="490118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ACM is an estimate inferred from a model. Different methods can deliver different levels and revisions.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94360" y="5824728"/>
            <a:ext cx="11000232" cy="329184"/>
          </a:xfrm>
          <a:prstGeom prst="roundRect">
            <a:avLst>
              <a:gd name="adj" fmla="val 44444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5861304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Never present a fitted term premium as if it were an observed Treasury quote.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D02   /   THE CURVE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yield curve contains many maturities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664208"/>
            <a:ext cx="10744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deliberately stylised illustrative curves — not observed Treasury values.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D02  •  BLUEBELLY LEARN  /  v1.0  /  30 OCT 2026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/ 18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30352" y="6263640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PATH  treasury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76656" y="2276856"/>
            <a:ext cx="10835640" cy="3236976"/>
          </a:xfrm>
          <a:prstGeom prst="roundRect">
            <a:avLst>
              <a:gd name="adj" fmla="val 4520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242316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Conceptual yield-curve shifts; vertical scale is intentionally unnumbered.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234440" y="4901184"/>
            <a:ext cx="9692640" cy="0"/>
          </a:xfrm>
          <a:prstGeom prst="line">
            <a:avLst/>
          </a:prstGeom>
          <a:noFill/>
          <a:ln w="19050">
            <a:solidFill>
              <a:srgbClr val="34404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34440" y="3063240"/>
            <a:ext cx="0" cy="1837944"/>
          </a:xfrm>
          <a:prstGeom prst="line">
            <a:avLst/>
          </a:prstGeom>
          <a:noFill/>
          <a:ln w="19050">
            <a:solidFill>
              <a:srgbClr val="34404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54480" y="4480560"/>
            <a:ext cx="1783080" cy="-411480"/>
          </a:xfrm>
          <a:prstGeom prst="line">
            <a:avLst/>
          </a:prstGeom>
          <a:noFill/>
          <a:ln w="38100">
            <a:solidFill>
              <a:srgbClr val="43D4C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54480" y="4334256"/>
            <a:ext cx="1783080" cy="-64008"/>
          </a:xfrm>
          <a:prstGeom prst="line">
            <a:avLst/>
          </a:prstGeom>
          <a:noFill/>
          <a:ln w="29210">
            <a:solidFill>
              <a:srgbClr val="F6D34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37560" y="4069080"/>
            <a:ext cx="1783080" cy="-274320"/>
          </a:xfrm>
          <a:prstGeom prst="line">
            <a:avLst/>
          </a:prstGeom>
          <a:noFill/>
          <a:ln w="38100">
            <a:solidFill>
              <a:srgbClr val="43D4C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37560" y="4270248"/>
            <a:ext cx="1783080" cy="-329184"/>
          </a:xfrm>
          <a:prstGeom prst="line">
            <a:avLst/>
          </a:prstGeom>
          <a:noFill/>
          <a:ln w="29210">
            <a:solidFill>
              <a:srgbClr val="F6D34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20640" y="3794760"/>
            <a:ext cx="1783080" cy="-429768"/>
          </a:xfrm>
          <a:prstGeom prst="line">
            <a:avLst/>
          </a:prstGeom>
          <a:noFill/>
          <a:ln w="38100">
            <a:solidFill>
              <a:srgbClr val="43D4C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20640" y="3941064"/>
            <a:ext cx="1783080" cy="-237744"/>
          </a:xfrm>
          <a:prstGeom prst="line">
            <a:avLst/>
          </a:prstGeom>
          <a:noFill/>
          <a:ln w="29210">
            <a:solidFill>
              <a:srgbClr val="F6D34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03720" y="3364992"/>
            <a:ext cx="1783080" cy="-118872"/>
          </a:xfrm>
          <a:prstGeom prst="line">
            <a:avLst/>
          </a:prstGeom>
          <a:noFill/>
          <a:ln w="38100">
            <a:solidFill>
              <a:srgbClr val="43D4C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03720" y="3703320"/>
            <a:ext cx="1783080" cy="-365760"/>
          </a:xfrm>
          <a:prstGeom prst="line">
            <a:avLst/>
          </a:prstGeom>
          <a:noFill/>
          <a:ln w="29210">
            <a:solidFill>
              <a:srgbClr val="F6D34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86800" y="3246120"/>
            <a:ext cx="1783080" cy="-374904"/>
          </a:xfrm>
          <a:prstGeom prst="line">
            <a:avLst/>
          </a:prstGeom>
          <a:noFill/>
          <a:ln w="38100">
            <a:solidFill>
              <a:srgbClr val="43D4C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86800" y="3337560"/>
            <a:ext cx="1783080" cy="-265176"/>
          </a:xfrm>
          <a:prstGeom prst="line">
            <a:avLst/>
          </a:prstGeom>
          <a:noFill/>
          <a:ln w="29210">
            <a:solidFill>
              <a:srgbClr val="F6D34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08176" y="4974336"/>
            <a:ext cx="393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191256" y="4974336"/>
            <a:ext cx="393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74336" y="4974336"/>
            <a:ext cx="393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757416" y="4974336"/>
            <a:ext cx="393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540496" y="4974336"/>
            <a:ext cx="393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323576" y="4974336"/>
            <a:ext cx="393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921240" y="2514600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808208" y="2514600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94360" y="5824728"/>
            <a:ext cx="11000232" cy="329184"/>
          </a:xfrm>
          <a:prstGeom prst="roundRect">
            <a:avLst>
              <a:gd name="adj" fmla="val 44444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" y="5861304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a fixed-maturity Treasury curve, not arbitrarily selected bond coupons.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D02   /   CURVE LANGUAGE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Four patterns, four different mechanisms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D02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12648" y="2441448"/>
            <a:ext cx="2619756" cy="2944368"/>
          </a:xfrm>
          <a:prstGeom prst="roundRect">
            <a:avLst>
              <a:gd name="adj" fmla="val 5585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2648" y="2441448"/>
            <a:ext cx="54864" cy="2944368"/>
          </a:xfrm>
          <a:prstGeom prst="roundRect">
            <a:avLst>
              <a:gd name="adj" fmla="val 266667"/>
            </a:avLst>
          </a:prstGeom>
          <a:solidFill>
            <a:srgbClr val="F6D343"/>
          </a:solidFill>
          <a:ln w="12700">
            <a:solidFill>
              <a:srgbClr val="F6D34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2596896"/>
            <a:ext cx="22539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BULL STEEPENER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13816" y="3090672"/>
            <a:ext cx="2226564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Both yields fall; shorter maturity falls more.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396996" y="2441448"/>
            <a:ext cx="2619756" cy="2944368"/>
          </a:xfrm>
          <a:prstGeom prst="roundRect">
            <a:avLst>
              <a:gd name="adj" fmla="val 5585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96996" y="2441448"/>
            <a:ext cx="54864" cy="2944368"/>
          </a:xfrm>
          <a:prstGeom prst="roundRect">
            <a:avLst>
              <a:gd name="adj" fmla="val 266667"/>
            </a:avLst>
          </a:prstGeom>
          <a:solidFill>
            <a:srgbClr val="43D4C2"/>
          </a:solidFill>
          <a:ln w="12700">
            <a:solidFill>
              <a:srgbClr val="43D4C2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79876" y="2596896"/>
            <a:ext cx="22539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BEAR STEEPENER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3598164" y="3090672"/>
            <a:ext cx="2226564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Both yields rise; longer maturity rises more.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181344" y="2441448"/>
            <a:ext cx="2619756" cy="2944368"/>
          </a:xfrm>
          <a:prstGeom prst="roundRect">
            <a:avLst>
              <a:gd name="adj" fmla="val 5585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81344" y="2441448"/>
            <a:ext cx="54864" cy="2944368"/>
          </a:xfrm>
          <a:prstGeom prst="roundRect">
            <a:avLst>
              <a:gd name="adj" fmla="val 266667"/>
            </a:avLst>
          </a:prstGeom>
          <a:solidFill>
            <a:srgbClr val="98DDA5"/>
          </a:solidFill>
          <a:ln w="12700">
            <a:solidFill>
              <a:srgbClr val="98DDA5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64224" y="2596896"/>
            <a:ext cx="22539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98DD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BULL FLATTENER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382512" y="3090672"/>
            <a:ext cx="2226564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Both yields fall; longer maturity falls more.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965692" y="2441448"/>
            <a:ext cx="2619756" cy="2944368"/>
          </a:xfrm>
          <a:prstGeom prst="roundRect">
            <a:avLst>
              <a:gd name="adj" fmla="val 5585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965692" y="2441448"/>
            <a:ext cx="54864" cy="2944368"/>
          </a:xfrm>
          <a:prstGeom prst="roundRect">
            <a:avLst>
              <a:gd name="adj" fmla="val 266667"/>
            </a:avLst>
          </a:prstGeom>
          <a:solidFill>
            <a:srgbClr val="8EBCE5"/>
          </a:solidFill>
          <a:ln w="12700">
            <a:solidFill>
              <a:srgbClr val="8EBCE5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8572" y="2596896"/>
            <a:ext cx="22539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8EBC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BEAR FLATTENER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9166860" y="3090672"/>
            <a:ext cx="2226564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Both yields rise; shorter maturity rises more.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94360" y="5824728"/>
            <a:ext cx="11000232" cy="329184"/>
          </a:xfrm>
          <a:prstGeom prst="roundRect">
            <a:avLst>
              <a:gd name="adj" fmla="val 44444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" y="5861304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labels describe curve mechanics. Growth, inflation or supply is a hypothesis to test.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D02   /   2S30S SPREAD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if the front end falls while the long end rises?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D02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/ 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2404872"/>
            <a:ext cx="10835640" cy="3044952"/>
          </a:xfrm>
          <a:prstGeom prst="roundRect">
            <a:avLst>
              <a:gd name="adj" fmla="val 4805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670048"/>
            <a:ext cx="1016812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7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2s30s = 30Y − 2Y</a:t>
            </a:r>
            <a:endParaRPr lang="en-US" sz="3700" dirty="0"/>
          </a:p>
        </p:txBody>
      </p:sp>
      <p:sp>
        <p:nvSpPr>
          <p:cNvPr id="11" name="Text 9"/>
          <p:cNvSpPr/>
          <p:nvPr/>
        </p:nvSpPr>
        <p:spPr>
          <a:xfrm>
            <a:off x="987552" y="3685032"/>
            <a:ext cx="10049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Δ30Y +30bp  −  Δ2Y (−10bp) = +40bp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1051560" y="4654296"/>
            <a:ext cx="99669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Hypothetical mixed-direction steepening: it need not be a textbook “bull” or “bear” shift.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94360" y="5824728"/>
            <a:ext cx="11000232" cy="329184"/>
          </a:xfrm>
          <a:prstGeom prst="roundRect">
            <a:avLst>
              <a:gd name="adj" fmla="val 44444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861304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2s30s widens 40bp. Do not label the macro cause from slope alone.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D02   /   INFLATION COMPENSATION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Nominal versus real yields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D02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/ 18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30352" y="6263640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PATH  treasury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58368" y="2423160"/>
            <a:ext cx="5294376" cy="2880360"/>
          </a:xfrm>
          <a:prstGeom prst="roundRect">
            <a:avLst>
              <a:gd name="adj" fmla="val 5079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2423160"/>
            <a:ext cx="54864" cy="2880360"/>
          </a:xfrm>
          <a:prstGeom prst="roundRect">
            <a:avLst>
              <a:gd name="adj" fmla="val 266667"/>
            </a:avLst>
          </a:prstGeom>
          <a:solidFill>
            <a:srgbClr val="F6D343"/>
          </a:solidFill>
          <a:ln w="12700">
            <a:solidFill>
              <a:srgbClr val="F6D34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2578608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NOMINAL TREASURY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59536" y="3072384"/>
            <a:ext cx="490118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quoted nominal par yield includes compensation linked to future purchasing power and nominal discounting.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17336" y="2423160"/>
            <a:ext cx="5294376" cy="2880360"/>
          </a:xfrm>
          <a:prstGeom prst="roundRect">
            <a:avLst>
              <a:gd name="adj" fmla="val 5079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17336" y="2423160"/>
            <a:ext cx="54864" cy="2880360"/>
          </a:xfrm>
          <a:prstGeom prst="roundRect">
            <a:avLst>
              <a:gd name="adj" fmla="val 266667"/>
            </a:avLst>
          </a:prstGeom>
          <a:solidFill>
            <a:srgbClr val="43D4C2"/>
          </a:solidFill>
          <a:ln w="12700">
            <a:solidFill>
              <a:srgbClr val="43D4C2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0216" y="2578608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TIPS REAL YIELD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318504" y="3072384"/>
            <a:ext cx="490118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TIPS real yield plus a nominal-real gap gives breakeven inflation, with liquidity/risk effects.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94360" y="5824728"/>
            <a:ext cx="11000232" cy="329184"/>
          </a:xfrm>
          <a:prstGeom prst="roundRect">
            <a:avLst>
              <a:gd name="adj" fmla="val 44444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5861304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5.0% nominal − 2.6% real ≈ 2.4% breakeven. Not a pure inflation forecast.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D02   /   SUPPLY AND AUCTIONS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Heavy issuance can complicate the story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D02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 / 18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30352" y="6263640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PATH  treasuryFAQ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58368" y="2423160"/>
            <a:ext cx="5294376" cy="2880360"/>
          </a:xfrm>
          <a:prstGeom prst="roundRect">
            <a:avLst>
              <a:gd name="adj" fmla="val 5079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2423160"/>
            <a:ext cx="54864" cy="2880360"/>
          </a:xfrm>
          <a:prstGeom prst="roundRect">
            <a:avLst>
              <a:gd name="adj" fmla="val 266667"/>
            </a:avLst>
          </a:prstGeom>
          <a:solidFill>
            <a:srgbClr val="F6D343"/>
          </a:solidFill>
          <a:ln w="12700">
            <a:solidFill>
              <a:srgbClr val="F6D34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2578608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AUCTION EVIDENCE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59536" y="3072384"/>
            <a:ext cx="490118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When-issued yield, stop-out, bid-to-cover and dealer allocation help assess demand at the auction.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17336" y="2423160"/>
            <a:ext cx="5294376" cy="2880360"/>
          </a:xfrm>
          <a:prstGeom prst="roundRect">
            <a:avLst>
              <a:gd name="adj" fmla="val 5079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17336" y="2423160"/>
            <a:ext cx="54864" cy="2880360"/>
          </a:xfrm>
          <a:prstGeom prst="roundRect">
            <a:avLst>
              <a:gd name="adj" fmla="val 266667"/>
            </a:avLst>
          </a:prstGeom>
          <a:solidFill>
            <a:srgbClr val="43D4C2"/>
          </a:solidFill>
          <a:ln w="12700">
            <a:solidFill>
              <a:srgbClr val="43D4C2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0216" y="2578608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THINGS IT DOES NOT SHOW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318504" y="3072384"/>
            <a:ext cx="490118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weak auction cannot prove a funding crisis. Compare timing, tenor, market context and historical distributions.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94360" y="5824728"/>
            <a:ext cx="11000232" cy="329184"/>
          </a:xfrm>
          <a:prstGeom prst="roundRect">
            <a:avLst>
              <a:gd name="adj" fmla="val 44444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5861304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30Y sale does not tell you what happened to 5Y term premium.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D02   /   CREDIT COST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Easier Treasury yields can still mean dearer borrowing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D02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 / 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2404872"/>
            <a:ext cx="10835640" cy="3044952"/>
          </a:xfrm>
          <a:prstGeom prst="roundRect">
            <a:avLst>
              <a:gd name="adj" fmla="val 4805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670048"/>
            <a:ext cx="1016812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7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ISSUER YIELD ≈ TREASURY + CREDIT SPREAD</a:t>
            </a:r>
            <a:endParaRPr lang="en-US" sz="3700" dirty="0"/>
          </a:p>
        </p:txBody>
      </p:sp>
      <p:sp>
        <p:nvSpPr>
          <p:cNvPr id="11" name="Text 9"/>
          <p:cNvSpPr/>
          <p:nvPr/>
        </p:nvSpPr>
        <p:spPr>
          <a:xfrm>
            <a:off x="987552" y="3685032"/>
            <a:ext cx="10049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−40bp Treasury + 75bp spread = +35bp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1051560" y="4654296"/>
            <a:ext cx="99669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matched-maturity change; issuer financing cost actually increases.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94360" y="5824728"/>
            <a:ext cx="11000232" cy="329184"/>
          </a:xfrm>
          <a:prstGeom prst="roundRect">
            <a:avLst>
              <a:gd name="adj" fmla="val 44444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861304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Always distinguish Treasury duration relief from credit-risk deterioration.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D02   /   LIQUIDITY PLUMBING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journey from policy to financing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D02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 / 18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30352" y="6263640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PATH  fed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40080" y="2651760"/>
            <a:ext cx="2553462" cy="2212848"/>
          </a:xfrm>
          <a:prstGeom prst="roundRect">
            <a:avLst>
              <a:gd name="adj" fmla="val 6612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2843784"/>
            <a:ext cx="22791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86384" y="3364992"/>
            <a:ext cx="22608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Fed decision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86384" y="3941064"/>
            <a:ext cx="226085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Overnight conditions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193542" y="3712464"/>
            <a:ext cx="223479" cy="0"/>
          </a:xfrm>
          <a:prstGeom prst="line">
            <a:avLst/>
          </a:prstGeom>
          <a:noFill/>
          <a:ln w="25400">
            <a:solidFill>
              <a:srgbClr val="43D4C2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431286" y="2651760"/>
            <a:ext cx="2553462" cy="2212848"/>
          </a:xfrm>
          <a:prstGeom prst="roundRect">
            <a:avLst>
              <a:gd name="adj" fmla="val 6612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95878" y="2843784"/>
            <a:ext cx="22791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577590" y="3364992"/>
            <a:ext cx="22608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Money markets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577590" y="3941064"/>
            <a:ext cx="226085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and SOFR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984748" y="3712464"/>
            <a:ext cx="223479" cy="0"/>
          </a:xfrm>
          <a:prstGeom prst="line">
            <a:avLst/>
          </a:prstGeom>
          <a:noFill/>
          <a:ln w="25400">
            <a:solidFill>
              <a:srgbClr val="43D4C2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222492" y="2651760"/>
            <a:ext cx="2553462" cy="2212848"/>
          </a:xfrm>
          <a:prstGeom prst="roundRect">
            <a:avLst>
              <a:gd name="adj" fmla="val 6612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87084" y="2843784"/>
            <a:ext cx="22791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368796" y="3364992"/>
            <a:ext cx="22608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Treasury market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368796" y="3941064"/>
            <a:ext cx="226085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Yield / collateral price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775954" y="3712464"/>
            <a:ext cx="223479" cy="0"/>
          </a:xfrm>
          <a:prstGeom prst="line">
            <a:avLst/>
          </a:prstGeom>
          <a:noFill/>
          <a:ln w="25400">
            <a:solidFill>
              <a:srgbClr val="43D4C2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013698" y="2651760"/>
            <a:ext cx="2553462" cy="2212848"/>
          </a:xfrm>
          <a:prstGeom prst="roundRect">
            <a:avLst>
              <a:gd name="adj" fmla="val 6612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78290" y="2843784"/>
            <a:ext cx="22791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160002" y="3364992"/>
            <a:ext cx="22608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 markets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160002" y="3941064"/>
            <a:ext cx="226085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Spread / funding cost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94360" y="5824728"/>
            <a:ext cx="11000232" cy="329184"/>
          </a:xfrm>
          <a:prstGeom prst="roundRect">
            <a:avLst>
              <a:gd name="adj" fmla="val 44444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" y="5861304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disruption at any step can blunt the intended policy transmission.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D02   /   A PROPER TEST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When the 30Y sells off, collect discriminating evidence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D02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 / 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67512" y="2331720"/>
            <a:ext cx="10808208" cy="694944"/>
          </a:xfrm>
          <a:prstGeom prst="roundRect">
            <a:avLst>
              <a:gd name="adj" fmla="val 21053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2459736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path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023360" y="2432304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Was the expected short-rate path repriced?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67512" y="3154680"/>
            <a:ext cx="10808208" cy="694944"/>
          </a:xfrm>
          <a:prstGeom prst="roundRect">
            <a:avLst>
              <a:gd name="adj" fmla="val 21053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7824" y="3282696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 vs breakeven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023360" y="3255264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Did real rates, inflation compensation, or both rise?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67512" y="3977640"/>
            <a:ext cx="10808208" cy="694944"/>
          </a:xfrm>
          <a:prstGeom prst="roundRect">
            <a:avLst>
              <a:gd name="adj" fmla="val 21053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7824" y="4105656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Premia / supply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023360" y="4078224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changed in model estimates, issuance and auctions?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67512" y="4800600"/>
            <a:ext cx="10808208" cy="694944"/>
          </a:xfrm>
          <a:prstGeom prst="roundRect">
            <a:avLst>
              <a:gd name="adj" fmla="val 21053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7824" y="4928616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 / risk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023360" y="4901184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Did spreads, equities and funding conditions corroborate?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D02   /   RETRIEVAL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Before you move on, try three tests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D02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 / 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67512" y="2258568"/>
            <a:ext cx="10826496" cy="804672"/>
          </a:xfrm>
          <a:prstGeom prst="roundRect">
            <a:avLst>
              <a:gd name="adj" fmla="val 18182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423160"/>
            <a:ext cx="548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72768" y="2359152"/>
            <a:ext cx="71780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Yield rises 50bp; duration is 7. Approximate price?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805672" y="2340864"/>
            <a:ext cx="22677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8DD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−3.5% before convexity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3200400"/>
            <a:ext cx="10826496" cy="804672"/>
          </a:xfrm>
          <a:prstGeom prst="roundRect">
            <a:avLst>
              <a:gd name="adj" fmla="val 18182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364992"/>
            <a:ext cx="548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72768" y="3300984"/>
            <a:ext cx="71780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term premium a directly observed Treasury price?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805672" y="3282696"/>
            <a:ext cx="22677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8DD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— model estimate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67512" y="4142232"/>
            <a:ext cx="10826496" cy="804672"/>
          </a:xfrm>
          <a:prstGeom prst="roundRect">
            <a:avLst>
              <a:gd name="adj" fmla="val 18182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306824"/>
            <a:ext cx="548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72768" y="4242816"/>
            <a:ext cx="71780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 yields rise after a Fed cut. Does that prove growth optimism?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805672" y="4224528"/>
            <a:ext cx="22677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8DD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— multiple mechanisms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94360" y="5824728"/>
            <a:ext cx="11000232" cy="329184"/>
          </a:xfrm>
          <a:prstGeom prst="roundRect">
            <a:avLst>
              <a:gd name="adj" fmla="val 44444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5861304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Try to answer before reading the green response.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D02   /   NEXT READING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 the foundations; keep Bluebelly examples original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D02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 / 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2267712"/>
            <a:ext cx="10844784" cy="566928"/>
          </a:xfrm>
          <a:prstGeom prst="roundRect">
            <a:avLst>
              <a:gd name="adj" fmla="val 25806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0" name="Text 8">
            <a:hlinkClick r:id="rId1" tooltip=""/>
          </p:cNvPr>
          <p:cNvSpPr/>
          <p:nvPr/>
        </p:nvSpPr>
        <p:spPr>
          <a:xfrm>
            <a:off x="914400" y="235915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U.S. Treasury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206240" y="2350008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Daily par/real curves; methodology and fixed maturities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8368" y="2889504"/>
            <a:ext cx="10844784" cy="566928"/>
          </a:xfrm>
          <a:prstGeom prst="roundRect">
            <a:avLst>
              <a:gd name="adj" fmla="val 25806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3" name="Text 11">
            <a:hlinkClick r:id="rId2" tooltip=""/>
          </p:cNvPr>
          <p:cNvSpPr/>
          <p:nvPr/>
        </p:nvSpPr>
        <p:spPr>
          <a:xfrm>
            <a:off x="914400" y="2980944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New York Fed ACM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206240" y="29718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Model-estimated, not observed, term premia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8368" y="3511296"/>
            <a:ext cx="10844784" cy="566928"/>
          </a:xfrm>
          <a:prstGeom prst="roundRect">
            <a:avLst>
              <a:gd name="adj" fmla="val 25806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6" name="Text 14">
            <a:hlinkClick r:id="rId3" tooltip=""/>
          </p:cNvPr>
          <p:cNvSpPr/>
          <p:nvPr/>
        </p:nvSpPr>
        <p:spPr>
          <a:xfrm>
            <a:off x="914400" y="3602736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MIT OpenCourseWare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206240" y="3593592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Finance Theory I; outbound link only (non-commercial reuse)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8368" y="4133088"/>
            <a:ext cx="10844784" cy="566928"/>
          </a:xfrm>
          <a:prstGeom prst="roundRect">
            <a:avLst>
              <a:gd name="adj" fmla="val 25806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9" name="Text 17">
            <a:hlinkClick r:id="rId4" tooltip=""/>
          </p:cNvPr>
          <p:cNvSpPr/>
          <p:nvPr/>
        </p:nvSpPr>
        <p:spPr>
          <a:xfrm>
            <a:off x="914400" y="422452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CME Group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206240" y="4215384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Free interest-rate futures education; link to provider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58368" y="4754880"/>
            <a:ext cx="10844784" cy="566928"/>
          </a:xfrm>
          <a:prstGeom prst="roundRect">
            <a:avLst>
              <a:gd name="adj" fmla="val 25806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22" name="Text 20">
            <a:hlinkClick r:id="rId5" tooltip=""/>
          </p:cNvPr>
          <p:cNvSpPr/>
          <p:nvPr/>
        </p:nvSpPr>
        <p:spPr>
          <a:xfrm>
            <a:off x="914400" y="484632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Bluebelly L02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206240" y="4837176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Original course, glossary and exercises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94360" y="5833872"/>
            <a:ext cx="11000232" cy="329184"/>
          </a:xfrm>
          <a:prstGeom prst="roundRect">
            <a:avLst>
              <a:gd name="adj" fmla="val 44444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" y="5870448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 works remain outbound links; these decks contain original editorial diagrams and hypothetical exercises.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Bluebelly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Why Treasury Yields Don't Simply Follow the Fed</dc:title>
  <dc:subject>Original educational slide deck. Hypothetical figures and outbound primary-source references.</dc:subject>
  <dc:creator>Bluebelly Learn editorial</dc:creator>
  <cp:lastModifiedBy>Bluebelly Learn editorial</cp:lastModifiedBy>
  <cp:revision>1</cp:revision>
  <dcterms:created xsi:type="dcterms:W3CDTF">2026-10-30T01:29:29Z</dcterms:created>
  <dcterms:modified xsi:type="dcterms:W3CDTF">2026-10-30T01:29:29Z</dcterms:modified>
</cp:coreProperties>
</file>