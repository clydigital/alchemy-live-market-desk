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bollingerbands.com/bollinger-band-rules" TargetMode="External"/><Relationship Id="rId2" Type="http://schemas.openxmlformats.org/officeDocument/2006/relationships/hyperlink" Target="https://www.fidelity.com/learning-center/trading-investing/technical-analysis/technical-indicator-guide/bollinger-bands" TargetMode="External"/><Relationship Id="rId3" Type="http://schemas.openxmlformats.org/officeDocument/2006/relationships/hyperlink" Target="https://app.notion.com/p/409519b67a94819ba01bdffca239c872" TargetMode="External"/><Relationship Id="rId4" Type="http://schemas.openxmlformats.org/officeDocument/2006/relationships/hyperlink" Target="https://app.notion.com/p/409519b67a9481c4ae55c84cd2ce3708" TargetMode="External"/><Relationship Id="rId5" Type="http://schemas.openxmlformats.org/officeDocument/2006/relationships/hyperlink" Target="https://www.cmegroup.com/education/courses/trade-and-risk-management/proper-position-size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 /   TECHNICAL RESEARCH LAB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Bollinger Bands Versus Your 1SD EMA Breakout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664208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signal definition, not a claim of profitable trading.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•  BLUEBELLY LEARN  /  v1.0  /  30 OCT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" y="2286000"/>
            <a:ext cx="10927080" cy="3127248"/>
          </a:xfrm>
          <a:prstGeom prst="roundRect">
            <a:avLst>
              <a:gd name="adj" fmla="val 4678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06624"/>
            <a:ext cx="10241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BAND TOUCH IS NOT A COMPLETE TRADE.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41832" y="3593592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a classic Bollinger Band from an EMA-centred volatility envelope.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8096" y="5769864"/>
            <a:ext cx="5212080" cy="301752"/>
          </a:xfrm>
          <a:prstGeom prst="roundRect">
            <a:avLst>
              <a:gd name="adj" fmla="val 48485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5769864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STORY-FIRST  /  ORIGINAL DIAGRAMS  /  SOURCE-LINKED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 /   THE CENTRAL DISAGREEMENT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Should a band break be faded or followed?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331720"/>
            <a:ext cx="10789920" cy="2953512"/>
          </a:xfrm>
          <a:prstGeom prst="roundRect">
            <a:avLst>
              <a:gd name="adj" fmla="val 4954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95728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1307592" y="2615184"/>
            <a:ext cx="9692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“Price touched the upper band. Isn’t it overbought?”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1353312" y="4599432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John Bollinger says a band tag alone is not a trade signal; trends can walk the bands.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 /   DEFINITION FIRST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Original Bollinger versus your customised chart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boll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 BOLLINGER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baseline: 20-period SMA, ±2 standard deviations of price.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WORKING ENVELOPE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20EMA±1σ; 50EMA±1σ; 100EMA±0.5σ; 200EMA±0.25σ, on 4H / daily.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SD lookback and centring method still need confirmation from the actual indicator script.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 /   THE CANDIDATE FORMULA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EMA-centred band needs two parameters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UPPER = EMA_n + k × SD_m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= EMA_n − k × SD_m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mean period, m = standard-deviation sample; not necessarily the same.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 is a research hypothesis until actual TradingView code/settings are captured.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 /   WHY 1SD TRIGGERS MORE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Trend price can walk above a moving envelope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boll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76656" y="2276856"/>
            <a:ext cx="10835640" cy="3236976"/>
          </a:xfrm>
          <a:prstGeom prst="roundRect">
            <a:avLst>
              <a:gd name="adj" fmla="val 4520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42316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instructional illustration — NOT observed price data.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61872" y="3611880"/>
            <a:ext cx="502920" cy="66157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61872" y="4544568"/>
            <a:ext cx="502920" cy="22921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61872" y="4078224"/>
            <a:ext cx="502920" cy="44539"/>
          </a:xfrm>
          <a:prstGeom prst="line">
            <a:avLst/>
          </a:prstGeom>
          <a:noFill/>
          <a:ln w="17780">
            <a:solidFill>
              <a:srgbClr val="6674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61872" y="4251960"/>
            <a:ext cx="502920" cy="98532"/>
          </a:xfrm>
          <a:prstGeom prst="line">
            <a:avLst/>
          </a:prstGeom>
          <a:noFill/>
          <a:ln w="31750">
            <a:solidFill>
              <a:srgbClr val="F6D34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64792" y="3678037"/>
            <a:ext cx="502920" cy="47052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64792" y="4567489"/>
            <a:ext cx="502920" cy="7679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64792" y="4122763"/>
            <a:ext cx="502920" cy="27365"/>
          </a:xfrm>
          <a:prstGeom prst="line">
            <a:avLst/>
          </a:prstGeom>
          <a:noFill/>
          <a:ln w="17780">
            <a:solidFill>
              <a:srgbClr val="6674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64792" y="4350492"/>
            <a:ext cx="502920" cy="-186650"/>
          </a:xfrm>
          <a:prstGeom prst="line">
            <a:avLst/>
          </a:prstGeom>
          <a:noFill/>
          <a:ln w="31750">
            <a:solidFill>
              <a:srgbClr val="F6D34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7712" y="3725089"/>
            <a:ext cx="502920" cy="13221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67712" y="4575167"/>
            <a:ext cx="502920" cy="-18773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67712" y="4150128"/>
            <a:ext cx="502920" cy="-2776"/>
          </a:xfrm>
          <a:prstGeom prst="line">
            <a:avLst/>
          </a:prstGeom>
          <a:noFill/>
          <a:ln w="17780">
            <a:solidFill>
              <a:srgbClr val="6674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67712" y="4163842"/>
            <a:ext cx="502920" cy="-366499"/>
          </a:xfrm>
          <a:prstGeom prst="line">
            <a:avLst/>
          </a:prstGeom>
          <a:noFill/>
          <a:ln w="31750">
            <a:solidFill>
              <a:srgbClr val="F6D3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70632" y="3738310"/>
            <a:ext cx="502920" cy="-27628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70632" y="4556394"/>
            <a:ext cx="502920" cy="-49385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70632" y="4147352"/>
            <a:ext cx="502920" cy="-38507"/>
          </a:xfrm>
          <a:prstGeom prst="line">
            <a:avLst/>
          </a:prstGeom>
          <a:noFill/>
          <a:ln w="17780">
            <a:solidFill>
              <a:srgbClr val="66747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70632" y="3797343"/>
            <a:ext cx="502920" cy="-194737"/>
          </a:xfrm>
          <a:prstGeom prst="line">
            <a:avLst/>
          </a:prstGeom>
          <a:noFill/>
          <a:ln w="31750">
            <a:solidFill>
              <a:srgbClr val="F6D34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73552" y="3710682"/>
            <a:ext cx="502920" cy="-66290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73552" y="4507009"/>
            <a:ext cx="502920" cy="-75866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73552" y="4108845"/>
            <a:ext cx="502920" cy="-71078"/>
          </a:xfrm>
          <a:prstGeom prst="line">
            <a:avLst/>
          </a:prstGeom>
          <a:noFill/>
          <a:ln w="17780">
            <a:solidFill>
              <a:srgbClr val="66747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73552" y="3602606"/>
            <a:ext cx="502920" cy="93432"/>
          </a:xfrm>
          <a:prstGeom prst="line">
            <a:avLst/>
          </a:prstGeom>
          <a:noFill/>
          <a:ln w="31750">
            <a:solidFill>
              <a:srgbClr val="F6D34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76472" y="3644392"/>
            <a:ext cx="502920" cy="-94245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76472" y="4431142"/>
            <a:ext cx="502920" cy="-90786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76472" y="4037767"/>
            <a:ext cx="502920" cy="-92516"/>
          </a:xfrm>
          <a:prstGeom prst="line">
            <a:avLst/>
          </a:prstGeom>
          <a:noFill/>
          <a:ln w="17780">
            <a:solidFill>
              <a:srgbClr val="66747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76472" y="3696039"/>
            <a:ext cx="502920" cy="103403"/>
          </a:xfrm>
          <a:prstGeom prst="line">
            <a:avLst/>
          </a:prstGeom>
          <a:noFill/>
          <a:ln w="31750">
            <a:solidFill>
              <a:srgbClr val="F6D34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79392" y="3550146"/>
            <a:ext cx="502920" cy="-105664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79392" y="4340356"/>
            <a:ext cx="502920" cy="-89477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79392" y="3945251"/>
            <a:ext cx="502920" cy="-97571"/>
          </a:xfrm>
          <a:prstGeom prst="line">
            <a:avLst/>
          </a:prstGeom>
          <a:noFill/>
          <a:ln w="17780">
            <a:solidFill>
              <a:srgbClr val="66747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79392" y="3799442"/>
            <a:ext cx="502920" cy="-178478"/>
          </a:xfrm>
          <a:prstGeom prst="line">
            <a:avLst/>
          </a:prstGeom>
          <a:noFill/>
          <a:ln w="31750">
            <a:solidFill>
              <a:srgbClr val="F6D34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82312" y="3444482"/>
            <a:ext cx="502920" cy="-98739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82312" y="4250879"/>
            <a:ext cx="502920" cy="-71271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82312" y="3847681"/>
            <a:ext cx="502920" cy="-85005"/>
          </a:xfrm>
          <a:prstGeom prst="line">
            <a:avLst/>
          </a:prstGeom>
          <a:noFill/>
          <a:ln w="17780">
            <a:solidFill>
              <a:srgbClr val="66747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82312" y="3620963"/>
            <a:ext cx="502920" cy="-366216"/>
          </a:xfrm>
          <a:prstGeom prst="line">
            <a:avLst/>
          </a:prstGeom>
          <a:noFill/>
          <a:ln w="31750">
            <a:solidFill>
              <a:srgbClr val="F6D34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85232" y="3345743"/>
            <a:ext cx="502920" cy="-76044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85232" y="4179608"/>
            <a:ext cx="502920" cy="-39749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85232" y="3762675"/>
            <a:ext cx="502920" cy="-57897"/>
          </a:xfrm>
          <a:prstGeom prst="line">
            <a:avLst/>
          </a:prstGeom>
          <a:noFill/>
          <a:ln w="17780">
            <a:solidFill>
              <a:srgbClr val="66747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85232" y="3254747"/>
            <a:ext cx="502920" cy="-202731"/>
          </a:xfrm>
          <a:prstGeom prst="line">
            <a:avLst/>
          </a:prstGeom>
          <a:noFill/>
          <a:ln w="31750">
            <a:solidFill>
              <a:srgbClr val="F6D34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88152" y="3269698"/>
            <a:ext cx="502920" cy="-43822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88152" y="4139859"/>
            <a:ext cx="502920" cy="-1941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88152" y="3704779"/>
            <a:ext cx="502920" cy="-22881"/>
          </a:xfrm>
          <a:prstGeom prst="line">
            <a:avLst/>
          </a:prstGeom>
          <a:noFill/>
          <a:ln w="17780">
            <a:solidFill>
              <a:srgbClr val="66747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88152" y="3052017"/>
            <a:ext cx="502920" cy="88109"/>
          </a:xfrm>
          <a:prstGeom prst="line">
            <a:avLst/>
          </a:prstGeom>
          <a:noFill/>
          <a:ln w="31750">
            <a:solidFill>
              <a:srgbClr val="F6D34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91072" y="3225877"/>
            <a:ext cx="502920" cy="-10395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91072" y="4137918"/>
            <a:ext cx="502920" cy="33331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91072" y="3681898"/>
            <a:ext cx="502920" cy="11468"/>
          </a:xfrm>
          <a:prstGeom prst="line">
            <a:avLst/>
          </a:prstGeom>
          <a:noFill/>
          <a:ln w="17780">
            <a:solidFill>
              <a:srgbClr val="6674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91072" y="3140125"/>
            <a:ext cx="502920" cy="108039"/>
          </a:xfrm>
          <a:prstGeom prst="line">
            <a:avLst/>
          </a:prstGeom>
          <a:noFill/>
          <a:ln w="31750">
            <a:solidFill>
              <a:srgbClr val="F6D34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93992" y="3215482"/>
            <a:ext cx="502920" cy="15909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793992" y="4171249"/>
            <a:ext cx="502920" cy="57572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93992" y="3693365"/>
            <a:ext cx="502920" cy="36741"/>
          </a:xfrm>
          <a:prstGeom prst="line">
            <a:avLst/>
          </a:prstGeom>
          <a:noFill/>
          <a:ln w="17780">
            <a:solidFill>
              <a:srgbClr val="6674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93992" y="3248164"/>
            <a:ext cx="502920" cy="-170231"/>
          </a:xfrm>
          <a:prstGeom prst="line">
            <a:avLst/>
          </a:prstGeom>
          <a:noFill/>
          <a:ln w="31750">
            <a:solidFill>
              <a:srgbClr val="F6D34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96912" y="3231391"/>
            <a:ext cx="502920" cy="28809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296912" y="4228821"/>
            <a:ext cx="502920" cy="64690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296912" y="3730106"/>
            <a:ext cx="502920" cy="46749"/>
          </a:xfrm>
          <a:prstGeom prst="line">
            <a:avLst/>
          </a:prstGeom>
          <a:noFill/>
          <a:ln w="17780">
            <a:solidFill>
              <a:srgbClr val="6674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296912" y="3077934"/>
            <a:ext cx="502920" cy="-365651"/>
          </a:xfrm>
          <a:prstGeom prst="line">
            <a:avLst/>
          </a:prstGeom>
          <a:noFill/>
          <a:ln w="31750">
            <a:solidFill>
              <a:srgbClr val="F6D34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99832" y="3260200"/>
            <a:ext cx="502920" cy="25598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799832" y="4293511"/>
            <a:ext cx="502920" cy="52490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799832" y="3776855"/>
            <a:ext cx="502920" cy="39044"/>
          </a:xfrm>
          <a:prstGeom prst="line">
            <a:avLst/>
          </a:prstGeom>
          <a:noFill/>
          <a:ln w="17780">
            <a:solidFill>
              <a:srgbClr val="66747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799832" y="2712283"/>
            <a:ext cx="502920" cy="-439222"/>
          </a:xfrm>
          <a:prstGeom prst="line">
            <a:avLst/>
          </a:prstGeom>
          <a:noFill/>
          <a:ln w="31750">
            <a:solidFill>
              <a:srgbClr val="F6D34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302752" y="3285797"/>
            <a:ext cx="502920" cy="7759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02752" y="4346000"/>
            <a:ext cx="502920" cy="23261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302752" y="3815899"/>
            <a:ext cx="502920" cy="15510"/>
          </a:xfrm>
          <a:prstGeom prst="line">
            <a:avLst/>
          </a:prstGeom>
          <a:noFill/>
          <a:ln w="17780">
            <a:solidFill>
              <a:srgbClr val="66747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302752" y="2273061"/>
            <a:ext cx="502920" cy="82567"/>
          </a:xfrm>
          <a:prstGeom prst="line">
            <a:avLst/>
          </a:prstGeom>
          <a:noFill/>
          <a:ln w="31750">
            <a:solidFill>
              <a:srgbClr val="F6D34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805672" y="3293557"/>
            <a:ext cx="502920" cy="-19452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805672" y="4369261"/>
            <a:ext cx="502920" cy="-16726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805672" y="3831409"/>
            <a:ext cx="502920" cy="-18089"/>
          </a:xfrm>
          <a:prstGeom prst="line">
            <a:avLst/>
          </a:prstGeom>
          <a:noFill/>
          <a:ln w="17780">
            <a:solidFill>
              <a:srgbClr val="66747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805672" y="2355628"/>
            <a:ext cx="502920" cy="112435"/>
          </a:xfrm>
          <a:prstGeom prst="line">
            <a:avLst/>
          </a:prstGeom>
          <a:noFill/>
          <a:ln w="31750">
            <a:solidFill>
              <a:srgbClr val="F6D34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308592" y="3274104"/>
            <a:ext cx="502920" cy="-48382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308592" y="4352535"/>
            <a:ext cx="502920" cy="-58675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308592" y="3813320"/>
            <a:ext cx="502920" cy="-53528"/>
          </a:xfrm>
          <a:prstGeom prst="line">
            <a:avLst/>
          </a:prstGeom>
          <a:noFill/>
          <a:ln w="17780">
            <a:solidFill>
              <a:srgbClr val="66747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308592" y="2468063"/>
            <a:ext cx="502920" cy="-161917"/>
          </a:xfrm>
          <a:prstGeom prst="line">
            <a:avLst/>
          </a:prstGeom>
          <a:noFill/>
          <a:ln w="31750">
            <a:solidFill>
              <a:srgbClr val="F6D34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811512" y="3225722"/>
            <a:ext cx="502920" cy="-70935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811512" y="4293861"/>
            <a:ext cx="502920" cy="-93326"/>
          </a:xfrm>
          <a:prstGeom prst="line">
            <a:avLst/>
          </a:prstGeom>
          <a:noFill/>
          <a:ln w="22860">
            <a:solidFill>
              <a:srgbClr val="43D4C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811512" y="3759791"/>
            <a:ext cx="502920" cy="-82130"/>
          </a:xfrm>
          <a:prstGeom prst="line">
            <a:avLst/>
          </a:prstGeom>
          <a:noFill/>
          <a:ln w="17780">
            <a:solidFill>
              <a:srgbClr val="66747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811512" y="2306147"/>
            <a:ext cx="502920" cy="-364804"/>
          </a:xfrm>
          <a:prstGeom prst="line">
            <a:avLst/>
          </a:prstGeom>
          <a:noFill/>
          <a:ln w="31750">
            <a:solidFill>
              <a:srgbClr val="F6D34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371600" y="49743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9692640" y="27614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+1σ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9692640" y="3703320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9692640" y="4526280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−1σ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price and bands. A 1σ breach is more frequent than a wider 2σ breach, but frequency is not edge.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 /   FOUR PRICE EVENTS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words that can actually be backtested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3816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Wick touches the band; no close required.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96996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6996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9876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OUTSIDE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598164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4H candle closes beyond chosen upper/lower band.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81344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98DDA5"/>
          </a:solidFill>
          <a:ln w="12700">
            <a:solidFill>
              <a:srgbClr val="98DDA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82512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or more completed closes beyond a defined threshold.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65692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5692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8EBCE5"/>
          </a:solidFill>
          <a:ln w="12700">
            <a:solidFill>
              <a:srgbClr val="8EBCE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8572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8EB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RETEST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166860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the break, revisit the band under an exact tolerance rule.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four patterns have different entry times and losses.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 /   CONTINUATION / REVERSION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same technical event has two opposing interpretations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boll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CONTINUATION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band-side closes, rising/declining mean, aligned daily trend.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REVERSION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Low-trend regime, failed follow-through, close returns inside band.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competing hypotheses; neither wins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 /   MULTI-TIMEFRAME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4H trigger and daily context do different jobs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233172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45973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023360" y="243230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dominant trend, last respected bands and major regime.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7512" y="315468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28269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023360" y="325526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completed-bar break, hold/retest and entry timing.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7512" y="397764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10565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bands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023360" y="407822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100/200 EMA zones can be support/resistance hypotheses.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7512" y="480060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492861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023360" y="490118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Cross-check real yields, DXY/JXY and upcoming catalysts.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 /   TEST A SETUP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falsifiable breakout example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86384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6384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4H close &gt; 20EMA +1σ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93542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31286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5878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77590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77590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closes + daily alignment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4748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22492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7084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68796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68796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tradable bar only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775954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13698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78290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60002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60002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+ ATR stop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Same-close fills after a close-confirmed signal would create look-ahead bias.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 /   LAST RESPECTED BAND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discretionary insight needs a rule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MAY MEAN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price-tested EMA envelope that previously held through retests.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NECESSITY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 lookback, allowed wicks/closes, recency and what replaces the prior zone.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mechanical definitions, charts can be selected after seeing the winning outcome.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 /   RISK STILL COUNTS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tighter band can make a worse trade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= STOP DISTANCE × VALUE × SIZE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 buffer + market structure → actual stop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stop should be moved merely to fit an advertised prop percentage.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band width is not the contract’s tick value or guaranteed maximum loss.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 /   COMPARE FOUR BASELINES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Does 1σ help more than an ordinary breakout?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BAND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3816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N-bar close breakout with identical exits.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96996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6996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9876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 ONLY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598164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20EMA crossover, no standard deviation.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81344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98DDA5"/>
          </a:solidFill>
          <a:ln w="12700">
            <a:solidFill>
              <a:srgbClr val="98DDA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1σ BREAK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82512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4H close outside custom envelope.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65692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5692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8EBCE5"/>
          </a:solidFill>
          <a:ln w="12700">
            <a:solidFill>
              <a:srgbClr val="8EBCE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8572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8EB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1σ HOLD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166860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closes and daily trend alignment.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dates, symbols, costs and risk treatment for a fair comparison.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 /   THE TEST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required before saying “it works”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233172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45973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 &amp; data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023360" y="243230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SD formula, price source, 4H sessions and bar closes.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7512" y="315468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28269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 test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023360" y="325526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Untouched holdout and chronological walk-forward splits.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7512" y="397764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10565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023360" y="407822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Bid/ask, slippage, tick economics and feasible tradable proxy.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7512" y="480060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492861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023360" y="490118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expectancy, drawdown, tail losses, no-trades and regime stability.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 /   PRACTICAL TRADER 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 responsible preflight would ask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3042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140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 BREAK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3957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4H close or only a wick?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29900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998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 HOLD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0815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Defined persistence or a hindsight retest?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85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 REGIME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37673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trend and event timing aligned?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" y="43616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4714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 STOP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44531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Structure/ATR, tick value and actual risk?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" y="50474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1572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 INVALIDATE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63440" y="51389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would disprove this direction?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setup description must permit a no-trade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 /   RETRIEVAL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can and cannot be concluded?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2258568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2768" y="2359152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upper-band touch itself prove sell?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05672" y="2340864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3200400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64992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2768" y="3300984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classic ±2σ SMA and EMA ±1σ the same?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805672" y="3282696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" y="4142232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06824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72768" y="4242816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more filters automatically increase true edge?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805672" y="4224528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real result requires an executable definition, pre-registered tests and a holdout.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 /   FREE FURTHER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the original author and test methodology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267712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914400" y="23591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Bollinger rules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0" y="23500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 tags; band walk; continuation versus reversal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2889504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914400" y="29809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Fidelity indicator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6240" y="2971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Volatility, parameter choices and limits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511296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>
            <a:hlinkClick r:id="rId3" tooltip=""/>
          </p:cNvPr>
          <p:cNvSpPr/>
          <p:nvPr/>
        </p:nvSpPr>
        <p:spPr>
          <a:xfrm>
            <a:off x="914400" y="36027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Bluebelly 1SD research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06240" y="359359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hypotheses and exact strategy questions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4133088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9" name="Text 17">
            <a:hlinkClick r:id="rId4" tooltip=""/>
          </p:cNvPr>
          <p:cNvSpPr/>
          <p:nvPr/>
        </p:nvSpPr>
        <p:spPr>
          <a:xfrm>
            <a:off x="914400" y="42245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Bluebelly L08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06240" y="421538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Multi-timeframe trading context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4754880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2" name="Text 20">
            <a:hlinkClick r:id="rId5" tooltip=""/>
          </p:cNvPr>
          <p:cNvSpPr/>
          <p:nvPr/>
        </p:nvSpPr>
        <p:spPr>
          <a:xfrm>
            <a:off x="914400" y="48463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CME sizing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06240" y="483717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Dollar-risk conversion before orders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5833872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870448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works remain outbound links; these decks contain original editorial diagrams and hypothetical exercises.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Bluebelly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Bollinger Bands Versus Your 1SD EMA Breakout</dc:title>
  <dc:subject>Original lessons and clearly hypothetical examples; external references linked only.</dc:subject>
  <dc:creator>Bluebelly Learn editorial</dc:creator>
  <cp:lastModifiedBy>Bluebelly Learn editorial</cp:lastModifiedBy>
  <cp:revision>1</cp:revision>
  <dcterms:created xsi:type="dcterms:W3CDTF">2026-10-30T02:01:29Z</dcterms:created>
  <dcterms:modified xsi:type="dcterms:W3CDTF">2026-10-30T02:01:29Z</dcterms:modified>
</cp:coreProperties>
</file>