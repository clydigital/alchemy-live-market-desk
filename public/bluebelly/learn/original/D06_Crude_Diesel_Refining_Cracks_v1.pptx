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ia.gov/energyexplained/oil-and-petroleum-products/refining-crude-oil-the-refining-process.php" TargetMode="External"/><Relationship Id="rId2" Type="http://schemas.openxmlformats.org/officeDocument/2006/relationships/hyperlink" Target="https://www.eia.gov/todayinEnergy/detail.php?id=68164" TargetMode="External"/><Relationship Id="rId3" Type="http://schemas.openxmlformats.org/officeDocument/2006/relationships/hyperlink" Target="https://www.eia.gov/finance/markets/products/prices.php" TargetMode="External"/><Relationship Id="rId4" Type="http://schemas.openxmlformats.org/officeDocument/2006/relationships/hyperlink" Target="https://www.eia.gov/energyexplained/natural-gas/liquefied-natural-gas.php" TargetMode="External"/><Relationship Id="rId5" Type="http://schemas.openxmlformats.org/officeDocument/2006/relationships/hyperlink" Target="https://app.notion.com/p/409519b67a94819dbd88c7d980c9fb08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THE PRICE PUZZLE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Crude Is Falling. Why Is Diesel Still Expensive?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physical-market lesson: barrels, refinery constraints, crack spreads and what reaches consumers.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BRENT DOWN. DIESEL STILL TIGHT.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commodity in the headline is not always the commodity in the fuel tank.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THE MISREAD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Crude oil is not ready-to-use diesel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“Oil is cheaper — so shouldn’t every fuel price fall?”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refinery, local inventory, transport chain and retailer sit between those prices.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PHYSICAL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 the barrel from production to consumer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eia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Crude supply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grades &amp; locations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and convert fractions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Diesel, gasoline, jet fuel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Pipelines, ports, retail price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Crude supply recovery does not instantly restore every finished product.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DIFFERENT MARKETS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refined products are not interchangeable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ULSD / DIESEL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Trucking, industry, generators; specifications matter.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5112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GASOLINE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 mobility, seasonal blends and local demand.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37576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 FUEL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38744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travel and aviation-grade specifications.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product has its own inventory, trade flow, margin and demand cycle.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REFINING BOTTLENECK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refinery outage changes the outcome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eia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CRUDE AVAILABLE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upstream barrel may be physically available and cheaper.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DIESEL CAPACITY TIGHT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capacity, turnaround, product quality or transport can restrict diesel availability.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 shortfall can coexist with ample crude inventories.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EXPORT SHOCK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restriction travels through several markets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change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limits fuel exports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flow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Importers lose diesel supply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crack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diesel premium may rise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Crude demand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Refiner response depends on capacity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cracks may encourage runs where spare capacity exists — not as an unconditional law.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FIRST ARITHMETIC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single-product crack spread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eiaDiesel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DIESEL VALUE − CRUDE VALUE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$145/bbl − $95/bbl = $50/bbl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same-location, matching-period barrel equivalents.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gross pricing proxy — not accounting profit after energy, labour, freight or hedging.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MARGIN PROXY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gross crack actually measures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eiaDiesel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6656" y="2276856"/>
            <a:ext cx="10835640" cy="3236976"/>
          </a:xfrm>
          <a:prstGeom prst="roundRect">
            <a:avLst>
              <a:gd name="adj" fmla="val 4520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23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price equivalents; not live futures or spot observations.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834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CRUDE INPUT   $95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0" y="2862072"/>
            <a:ext cx="6556248" cy="256032"/>
          </a:xfrm>
          <a:prstGeom prst="roundRect">
            <a:avLst>
              <a:gd name="adj" fmla="val 57143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2862072"/>
            <a:ext cx="3892772" cy="256032"/>
          </a:xfrm>
          <a:prstGeom prst="roundRect">
            <a:avLst>
              <a:gd name="adj" fmla="val 57143"/>
            </a:avLst>
          </a:prstGeom>
          <a:solidFill>
            <a:srgbClr val="667478"/>
          </a:solidFill>
          <a:ln w="12700">
            <a:solidFill>
              <a:srgbClr val="66747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5935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DIESEL VALUE $145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0" y="3621024"/>
            <a:ext cx="6556248" cy="256032"/>
          </a:xfrm>
          <a:prstGeom prst="roundRect">
            <a:avLst>
              <a:gd name="adj" fmla="val 57143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3621024"/>
            <a:ext cx="5941600" cy="256032"/>
          </a:xfrm>
          <a:prstGeom prst="roundRect">
            <a:avLst>
              <a:gd name="adj" fmla="val 57143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3525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CRACK   $50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4379976"/>
            <a:ext cx="6556248" cy="256032"/>
          </a:xfrm>
          <a:prstGeom prst="roundRect">
            <a:avLst>
              <a:gd name="adj" fmla="val 57143"/>
            </a:avLst>
          </a:prstGeom>
          <a:solidFill>
            <a:srgbClr val="344045"/>
          </a:solidFill>
          <a:ln w="12700">
            <a:solidFill>
              <a:srgbClr val="34404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4379976"/>
            <a:ext cx="2048828" cy="256032"/>
          </a:xfrm>
          <a:prstGeom prst="roundRect">
            <a:avLst>
              <a:gd name="adj" fmla="val 57143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$50 crack can move without a corresponding $50 increase in refinery earnings.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UNIT CONVERSION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mismatches can create a fake margin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eiaProducts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US BARREL = 42 US GALLONS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$3.45/gal × 42 = $144.90/bbl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price/volume units, crude grade, product quality, market location and month consistently.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compare diesel dollars-per-gallon directly with crude dollars-per-barrel.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THE 3:2:1 APPROXIMATION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blend of gasoline and distillate economics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(2 × GAS + 1 × DIST − 3 × CRUDE) / 3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(2×$120 + $150 − 3×$95) / 3 = $35/bbl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barrel values. Actual refinery yields and costs differ.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benchmark gross spread, not a universal refinery output recipe.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BENCHMARKS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Brent and WTI price different things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seaborne benchmark influenced by international trade, quality, logistics and contract conventions.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WTI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light-sweet crude benchmark with different location, delivery and regional dynamics.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Same-day front-month futures are not identical to delivered spot cargo margins.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CHECK THE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four checks behind a real diesel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5973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stocks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432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inventories scarce in the region that matters?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" y="315468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826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Refinery runs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32552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utilisation and product yields constrained?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97764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056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Import/export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782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arbitrage and shipping relieve the shortage?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" y="4800600"/>
            <a:ext cx="10808208" cy="694944"/>
          </a:xfrm>
          <a:prstGeom prst="roundRect">
            <a:avLst>
              <a:gd name="adj" fmla="val 21053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286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0" y="4901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industrial/freight cycle changing consumption?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FUTURES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Backwardation is a signal, not a price forecast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product futures command a premium to deferred delivery — may reflect immediate scarcity/convenience value.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CONTANGO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Deferred contracts exceed nearby prices — may reflect storage/financing and inventory conditions.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infer the eventual future spot price directly from curve slope.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SHIPPING AND HORMUZ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ship sighting is not a cargo delivery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AIS CAN SHOW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vessel location and movement signals, subject to coverage gaps, spoofing and delay.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CANNOT SHOW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cargo volume, delivery completion, grade, contract terms, availability to refiners, or permanent normalisation.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crude, refined products and LNG. Preserve timestamps and stale-data flags.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CROSS-ASSET EFFECT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diesel shortage can reach bond markets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shortage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Wholesale / retail diesel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costs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/ logistics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 outlook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and spillovers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Bonds / equities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yield, term premia, margins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Transmission is conditional on demand, expectations and policy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THE COUNTERCASE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could make the crude–diesel divergence disappear?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RESTORED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Refinery restarts, exports resume, logistics unclog.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5112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COOLS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Freight, manufacturing or seasonal consumption eases.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37576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NARROWS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38744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premium fades while benchmark crude changes.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headline is an opening hypothesis, not proof of the underlying cause.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 tests before you call a refining trade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Crude $95/bbl; diesel $145/bbl: simple crack?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$50/bbl gross spread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 $50 crack imply $50 net profit?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more tanker signals prove diesel supply normalised?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— cargo &amp; delivery matter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Bonus: Match product/crude quote location, maturity and units before calculating.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 /   NEXT READING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market chain from primary energy 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D06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EIA refinery 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refinery physically produces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EIA diesel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Sep 2026 analysis; historical reference, not live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EIA product markets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product price conventions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EIA LNG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LNG is a separate physical supply chain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914400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48371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oil and refinery course with exercises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Crude Is Falling. Why Is Diesel Still Expensive?</dc:title>
  <dc:subject>Original educational slide deck. Hypothetical figures and outbound primary-source references.</dc:subject>
  <dc:creator>Bluebelly Learn editorial</dc:creator>
  <cp:lastModifiedBy>Bluebelly Learn editorial</cp:lastModifiedBy>
  <cp:revision>1</cp:revision>
  <dcterms:created xsi:type="dcterms:W3CDTF">2026-10-30T01:29:29Z</dcterms:created>
  <dcterms:modified xsi:type="dcterms:W3CDTF">2026-10-30T01:29:29Z</dcterms:modified>
</cp:coreProperties>
</file>