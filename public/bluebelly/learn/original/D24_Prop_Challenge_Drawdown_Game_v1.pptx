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hyperlink" Target="https://ftmo.com/en/trading-objectives/" TargetMode="External"/><Relationship Id="rId2" Type="http://schemas.openxmlformats.org/officeDocument/2006/relationships/hyperlink" Target="https://the5ers.com/faqs/what-is-the-drawdown-rule-for-high-stakes/" TargetMode="External"/><Relationship Id="rId3" Type="http://schemas.openxmlformats.org/officeDocument/2006/relationships/hyperlink" Target="https://the5ers.com/faqs/what-are-the-general-rules-for-the-high-stakes-program/" TargetMode="External"/><Relationship Id="rId4" Type="http://schemas.openxmlformats.org/officeDocument/2006/relationships/hyperlink" Target="https://app.notion.com/p/409519b67a948106aee2c729dac23f92" TargetMode="Externa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10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F6D343"/>
          </a:solidFill>
          <a:ln w="12700">
            <a:solidFill>
              <a:srgbClr val="F6D3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83464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43D4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D24   /   THE REAL ACCOUNT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1100023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5F6F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Prop Challenge Is a Drawdown Game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12648" y="1664208"/>
            <a:ext cx="10744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A9B4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Evaluation economics, trailing floors, daily resets and consistency.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6510528"/>
            <a:ext cx="11201400" cy="0"/>
          </a:xfrm>
          <a:prstGeom prst="line">
            <a:avLst/>
          </a:prstGeom>
          <a:noFill/>
          <a:ln w="15240">
            <a:solidFill>
              <a:srgbClr val="34404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21208" y="6556248"/>
            <a:ext cx="4983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A9B4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D24  •  BLUEBELLY LEARN  /  v1.0  /  30 OCT 2026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559552" y="6556248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6674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ILLUSTRATIVE — NOT LIVE MARKET DATA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00232" y="653796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/ 15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03504" y="2286000"/>
            <a:ext cx="10927080" cy="3127248"/>
          </a:xfrm>
          <a:prstGeom prst="roundRect">
            <a:avLst>
              <a:gd name="adj" fmla="val 4678"/>
            </a:avLst>
          </a:prstGeom>
          <a:solidFill>
            <a:srgbClr val="171D20"/>
          </a:solidFill>
          <a:ln w="12700">
            <a:solidFill>
              <a:srgbClr val="171D20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2706624"/>
            <a:ext cx="1024128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$100,000 LABEL IS NOT $100,000 RISK.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941832" y="3593592"/>
            <a:ext cx="9966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F5F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Your usable loss budget is constrained by the contract, account state and trading rules.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768096" y="5769864"/>
            <a:ext cx="5212080" cy="301752"/>
          </a:xfrm>
          <a:prstGeom prst="roundRect">
            <a:avLst>
              <a:gd name="adj" fmla="val 48485"/>
            </a:avLst>
          </a:prstGeom>
          <a:solidFill>
            <a:srgbClr val="212A2D"/>
          </a:solidFill>
          <a:ln w="12700">
            <a:solidFill>
              <a:srgbClr val="212A2D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59536" y="5769864"/>
            <a:ext cx="5029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43D4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STORY-FIRST  /  ORIGINAL DIAGRAMS  /  SOURCE-LINKED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C10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F6D343"/>
          </a:solidFill>
          <a:ln w="12700">
            <a:solidFill>
              <a:srgbClr val="F6D3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83464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43D4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D24   /   THE PROP TRAP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1100023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5F6F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headline balance makes the risk feel bigger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6510528"/>
            <a:ext cx="11201400" cy="0"/>
          </a:xfrm>
          <a:prstGeom prst="line">
            <a:avLst/>
          </a:prstGeom>
          <a:noFill/>
          <a:ln w="15240">
            <a:solidFill>
              <a:srgbClr val="34404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1208" y="6556248"/>
            <a:ext cx="4983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A9B4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D24  •  BLUEBELLY LEARN  /  v1.0  /  30 OCT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559552" y="6556248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6674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ILLUSTRATIVE — NOT LIVE MARKET DATA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000232" y="653796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/ 15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58368" y="2331720"/>
            <a:ext cx="10789920" cy="2953512"/>
          </a:xfrm>
          <a:prstGeom prst="roundRect">
            <a:avLst>
              <a:gd name="adj" fmla="val 4954"/>
            </a:avLst>
          </a:prstGeom>
          <a:solidFill>
            <a:srgbClr val="171D20"/>
          </a:solidFill>
          <a:ln w="12700">
            <a:solidFill>
              <a:srgbClr val="171D20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2395728"/>
            <a:ext cx="822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0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</a:t>
            </a:r>
            <a:endParaRPr lang="en-US" sz="6400" dirty="0"/>
          </a:p>
        </p:txBody>
      </p:sp>
      <p:sp>
        <p:nvSpPr>
          <p:cNvPr id="11" name="Text 9"/>
          <p:cNvSpPr/>
          <p:nvPr/>
        </p:nvSpPr>
        <p:spPr>
          <a:xfrm>
            <a:off x="1307592" y="2615184"/>
            <a:ext cx="96926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5F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“It says $100K. Surely losing $3,000 is only a small trade?”</a:t>
            </a:r>
            <a:endParaRPr lang="en-US" sz="3100" dirty="0"/>
          </a:p>
        </p:txBody>
      </p:sp>
      <p:sp>
        <p:nvSpPr>
          <p:cNvPr id="12" name="Text 10"/>
          <p:cNvSpPr/>
          <p:nvPr/>
        </p:nvSpPr>
        <p:spPr>
          <a:xfrm>
            <a:off x="1353312" y="4599432"/>
            <a:ext cx="9601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43D4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Your binding daily/overall floor may be far closer than you think.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C10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F6D343"/>
          </a:solidFill>
          <a:ln w="12700">
            <a:solidFill>
              <a:srgbClr val="F6D3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83464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43D4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D24   /   CONTRACT BEFORE CHART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1100023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5F6F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Read the complete product order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6510528"/>
            <a:ext cx="11201400" cy="0"/>
          </a:xfrm>
          <a:prstGeom prst="line">
            <a:avLst/>
          </a:prstGeom>
          <a:noFill/>
          <a:ln w="15240">
            <a:solidFill>
              <a:srgbClr val="34404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1208" y="6556248"/>
            <a:ext cx="4983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A9B4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D24  •  BLUEBELLY LEARN  /  v1.0  /  30 OCT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559552" y="6556248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6674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ILLUSTRATIVE — NOT LIVE MARKET DATA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000232" y="653796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/ 15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30352" y="6263640"/>
            <a:ext cx="10881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674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 PATH  ftmo · fivers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640080" y="2651760"/>
            <a:ext cx="2553462" cy="2212848"/>
          </a:xfrm>
          <a:prstGeom prst="roundRect">
            <a:avLst>
              <a:gd name="adj" fmla="val 6612"/>
            </a:avLst>
          </a:prstGeom>
          <a:solidFill>
            <a:srgbClr val="171D20"/>
          </a:solidFill>
          <a:ln w="12700">
            <a:solidFill>
              <a:srgbClr val="171D20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4672" y="2843784"/>
            <a:ext cx="227914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86384" y="3364992"/>
            <a:ext cx="226085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5F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Firm &amp; product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86384" y="3941064"/>
            <a:ext cx="226085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A9B4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1-step/2-step/variant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193542" y="3712464"/>
            <a:ext cx="223479" cy="0"/>
          </a:xfrm>
          <a:prstGeom prst="line">
            <a:avLst/>
          </a:prstGeom>
          <a:noFill/>
          <a:ln w="25400">
            <a:solidFill>
              <a:srgbClr val="43D4C2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3431286" y="2651760"/>
            <a:ext cx="2553462" cy="2212848"/>
          </a:xfrm>
          <a:prstGeom prst="roundRect">
            <a:avLst>
              <a:gd name="adj" fmla="val 6612"/>
            </a:avLst>
          </a:prstGeom>
          <a:solidFill>
            <a:srgbClr val="171D20"/>
          </a:solidFill>
          <a:ln w="12700">
            <a:solidFill>
              <a:srgbClr val="171D20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595878" y="2843784"/>
            <a:ext cx="227914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577590" y="3364992"/>
            <a:ext cx="226085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5F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Evaluation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3577590" y="3941064"/>
            <a:ext cx="226085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A9B4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Targets, minimum days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984748" y="3712464"/>
            <a:ext cx="223479" cy="0"/>
          </a:xfrm>
          <a:prstGeom prst="line">
            <a:avLst/>
          </a:prstGeom>
          <a:noFill/>
          <a:ln w="25400">
            <a:solidFill>
              <a:srgbClr val="43D4C2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6222492" y="2651760"/>
            <a:ext cx="2553462" cy="2212848"/>
          </a:xfrm>
          <a:prstGeom prst="roundRect">
            <a:avLst>
              <a:gd name="adj" fmla="val 6612"/>
            </a:avLst>
          </a:prstGeom>
          <a:solidFill>
            <a:srgbClr val="171D20"/>
          </a:solidFill>
          <a:ln w="12700">
            <a:solidFill>
              <a:srgbClr val="171D20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87084" y="2843784"/>
            <a:ext cx="227914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368796" y="3364992"/>
            <a:ext cx="226085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5F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Loss limits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368796" y="3941064"/>
            <a:ext cx="226085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A9B4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Equity, balance, trailing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8775954" y="3712464"/>
            <a:ext cx="223479" cy="0"/>
          </a:xfrm>
          <a:prstGeom prst="line">
            <a:avLst/>
          </a:prstGeom>
          <a:noFill/>
          <a:ln w="25400">
            <a:solidFill>
              <a:srgbClr val="43D4C2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9013698" y="2651760"/>
            <a:ext cx="2553462" cy="2212848"/>
          </a:xfrm>
          <a:prstGeom prst="roundRect">
            <a:avLst>
              <a:gd name="adj" fmla="val 6612"/>
            </a:avLst>
          </a:prstGeom>
          <a:solidFill>
            <a:srgbClr val="171D20"/>
          </a:solidFill>
          <a:ln w="12700">
            <a:solidFill>
              <a:srgbClr val="171D20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78290" y="2843784"/>
            <a:ext cx="227914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9160002" y="3364992"/>
            <a:ext cx="226085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5F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Operations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9160002" y="3941064"/>
            <a:ext cx="226085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A9B4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News, reset, payouts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94360" y="5824728"/>
            <a:ext cx="11000232" cy="329184"/>
          </a:xfrm>
          <a:prstGeom prst="roundRect">
            <a:avLst>
              <a:gd name="adj" fmla="val 44444"/>
            </a:avLst>
          </a:prstGeom>
          <a:solidFill>
            <a:srgbClr val="212A2D"/>
          </a:solidFill>
          <a:ln w="12700">
            <a:solidFill>
              <a:srgbClr val="212A2D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49808" y="5861304"/>
            <a:ext cx="10680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the precise order/phase and effective contract date; rules can change.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C10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F6D343"/>
          </a:solidFill>
          <a:ln w="12700">
            <a:solidFill>
              <a:srgbClr val="F6D3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83464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43D4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D24   /   THREE LOSS RULES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1100023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5F6F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These floors are mathematically different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6510528"/>
            <a:ext cx="11201400" cy="0"/>
          </a:xfrm>
          <a:prstGeom prst="line">
            <a:avLst/>
          </a:prstGeom>
          <a:noFill/>
          <a:ln w="15240">
            <a:solidFill>
              <a:srgbClr val="34404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1208" y="6556248"/>
            <a:ext cx="4983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A9B4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D24  •  BLUEBELLY LEARN  /  v1.0  /  30 OCT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559552" y="6556248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6674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ILLUSTRATIVE — NOT LIVE MARKET DATA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000232" y="653796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/ 15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12648" y="2441448"/>
            <a:ext cx="3547872" cy="2944368"/>
          </a:xfrm>
          <a:prstGeom prst="roundRect">
            <a:avLst>
              <a:gd name="adj" fmla="val 4969"/>
            </a:avLst>
          </a:prstGeom>
          <a:solidFill>
            <a:srgbClr val="171D20"/>
          </a:solidFill>
          <a:ln w="12700">
            <a:solidFill>
              <a:srgbClr val="171D20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12648" y="2441448"/>
            <a:ext cx="54864" cy="2944368"/>
          </a:xfrm>
          <a:prstGeom prst="roundRect">
            <a:avLst>
              <a:gd name="adj" fmla="val 266667"/>
            </a:avLst>
          </a:prstGeom>
          <a:solidFill>
            <a:srgbClr val="F6D343"/>
          </a:solidFill>
          <a:ln w="12700">
            <a:solidFill>
              <a:srgbClr val="F6D343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5528" y="2596896"/>
            <a:ext cx="3182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STATIC MAX LOSS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813816" y="3090672"/>
            <a:ext cx="3154680" cy="216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5F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Fixed equity floor based on a stated baseline.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325112" y="2441448"/>
            <a:ext cx="3547872" cy="2944368"/>
          </a:xfrm>
          <a:prstGeom prst="roundRect">
            <a:avLst>
              <a:gd name="adj" fmla="val 4969"/>
            </a:avLst>
          </a:prstGeom>
          <a:solidFill>
            <a:srgbClr val="171D20"/>
          </a:solidFill>
          <a:ln w="12700">
            <a:solidFill>
              <a:srgbClr val="171D20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25112" y="2441448"/>
            <a:ext cx="54864" cy="2944368"/>
          </a:xfrm>
          <a:prstGeom prst="roundRect">
            <a:avLst>
              <a:gd name="adj" fmla="val 266667"/>
            </a:avLst>
          </a:prstGeom>
          <a:solidFill>
            <a:srgbClr val="43D4C2"/>
          </a:solidFill>
          <a:ln w="12700">
            <a:solidFill>
              <a:srgbClr val="43D4C2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07992" y="2596896"/>
            <a:ext cx="3182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43D4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TRAILING LOSS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4526280" y="3090672"/>
            <a:ext cx="3154680" cy="216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5F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Floor follows an account high per product rule.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8037576" y="2441448"/>
            <a:ext cx="3547872" cy="2944368"/>
          </a:xfrm>
          <a:prstGeom prst="roundRect">
            <a:avLst>
              <a:gd name="adj" fmla="val 4969"/>
            </a:avLst>
          </a:prstGeom>
          <a:solidFill>
            <a:srgbClr val="171D20"/>
          </a:solidFill>
          <a:ln w="12700">
            <a:solidFill>
              <a:srgbClr val="171D20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037576" y="2441448"/>
            <a:ext cx="54864" cy="2944368"/>
          </a:xfrm>
          <a:prstGeom prst="roundRect">
            <a:avLst>
              <a:gd name="adj" fmla="val 266667"/>
            </a:avLst>
          </a:prstGeom>
          <a:solidFill>
            <a:srgbClr val="98DDA5"/>
          </a:solidFill>
          <a:ln w="12700">
            <a:solidFill>
              <a:srgbClr val="98DDA5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0456" y="2596896"/>
            <a:ext cx="3182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98DD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DAILY LOSS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8238744" y="3090672"/>
            <a:ext cx="3154680" cy="216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5F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Recomputed at a stated time from balance/equity and defined allowance.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594360" y="5824728"/>
            <a:ext cx="11000232" cy="329184"/>
          </a:xfrm>
          <a:prstGeom prst="roundRect">
            <a:avLst>
              <a:gd name="adj" fmla="val 44444"/>
            </a:avLst>
          </a:prstGeom>
          <a:solidFill>
            <a:srgbClr val="212A2D"/>
          </a:solidFill>
          <a:ln w="12700">
            <a:solidFill>
              <a:srgbClr val="212A2D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9808" y="5861304"/>
            <a:ext cx="10680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Distinguish intraday, end-of-day and closing-balance trailing calculations.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C10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F6D343"/>
          </a:solidFill>
          <a:ln w="12700">
            <a:solidFill>
              <a:srgbClr val="F6D3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83464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43D4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D24   /   ILLUSTRATIVE HEADROOM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1100023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5F6F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Risk capacity is distance to the nearest floor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6510528"/>
            <a:ext cx="11201400" cy="0"/>
          </a:xfrm>
          <a:prstGeom prst="line">
            <a:avLst/>
          </a:prstGeom>
          <a:noFill/>
          <a:ln w="15240">
            <a:solidFill>
              <a:srgbClr val="34404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1208" y="6556248"/>
            <a:ext cx="4983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A9B4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D24  •  BLUEBELLY LEARN  /  v1.0  /  30 OCT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559552" y="6556248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6674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ILLUSTRATIVE — NOT LIVE MARKET DATA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000232" y="653796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/ 15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58368" y="2404872"/>
            <a:ext cx="10835640" cy="3044952"/>
          </a:xfrm>
          <a:prstGeom prst="roundRect">
            <a:avLst>
              <a:gd name="adj" fmla="val 4805"/>
            </a:avLst>
          </a:prstGeom>
          <a:solidFill>
            <a:srgbClr val="171D20"/>
          </a:solidFill>
          <a:ln w="12700">
            <a:solidFill>
              <a:srgbClr val="171D20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670048"/>
            <a:ext cx="10168128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700" b="1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HEADROOM = EQUITY − BINDING FLOOR</a:t>
            </a:r>
            <a:endParaRPr lang="en-US" sz="3700" dirty="0"/>
          </a:p>
        </p:txBody>
      </p:sp>
      <p:sp>
        <p:nvSpPr>
          <p:cNvPr id="11" name="Text 9"/>
          <p:cNvSpPr/>
          <p:nvPr/>
        </p:nvSpPr>
        <p:spPr>
          <a:xfrm>
            <a:off x="987552" y="3685032"/>
            <a:ext cx="100492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5F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$101,000 − $98,000 = $3,000</a:t>
            </a:r>
            <a:endParaRPr lang="en-US" sz="2500" dirty="0"/>
          </a:p>
        </p:txBody>
      </p:sp>
      <p:sp>
        <p:nvSpPr>
          <p:cNvPr id="12" name="Text 10"/>
          <p:cNvSpPr/>
          <p:nvPr/>
        </p:nvSpPr>
        <p:spPr>
          <a:xfrm>
            <a:off x="1051560" y="4654296"/>
            <a:ext cx="996696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A9B4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Hypothetical floor. Available headroom can shrink as equity or firm baseline changes.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94360" y="5824728"/>
            <a:ext cx="11000232" cy="329184"/>
          </a:xfrm>
          <a:prstGeom prst="roundRect">
            <a:avLst>
              <a:gd name="adj" fmla="val 44444"/>
            </a:avLst>
          </a:prstGeom>
          <a:solidFill>
            <a:srgbClr val="212A2D"/>
          </a:solidFill>
          <a:ln w="12700">
            <a:solidFill>
              <a:srgbClr val="212A2D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5861304"/>
            <a:ext cx="10680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1% risk ticket on nominal 100K may consume one-third of this headroom.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C10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F6D343"/>
          </a:solidFill>
          <a:ln w="12700">
            <a:solidFill>
              <a:srgbClr val="F6D3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83464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43D4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D24   /   DAILY RESET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1100023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5F6F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previous-day snapshot changes tomorrow’s floor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6510528"/>
            <a:ext cx="11201400" cy="0"/>
          </a:xfrm>
          <a:prstGeom prst="line">
            <a:avLst/>
          </a:prstGeom>
          <a:noFill/>
          <a:ln w="15240">
            <a:solidFill>
              <a:srgbClr val="34404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1208" y="6556248"/>
            <a:ext cx="4983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A9B4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D24  •  BLUEBELLY LEARN  /  v1.0  /  30 OCT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559552" y="6556248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6674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ILLUSTRATIVE — NOT LIVE MARKET DATA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000232" y="653796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 / 15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76656" y="2276856"/>
            <a:ext cx="10835640" cy="3236976"/>
          </a:xfrm>
          <a:prstGeom prst="roundRect">
            <a:avLst>
              <a:gd name="adj" fmla="val 4520"/>
            </a:avLst>
          </a:prstGeom>
          <a:solidFill>
            <a:srgbClr val="171D20"/>
          </a:solidFill>
          <a:ln w="12700">
            <a:solidFill>
              <a:srgbClr val="171D20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50976" y="2423160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A9B4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Original instructional illustration — NOT observed price data.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87552" y="274320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5F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136392" y="274320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43D4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Equity 100,000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73952" y="274320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Floor 95,000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87552" y="347472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5F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 SNAPSHOT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136392" y="347472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43D4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Equity 103,000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73952" y="347472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Floor 97,850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87552" y="420624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5F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LOSS TO 98,000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136392" y="420624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43D4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Equity 98,000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73952" y="420624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Floor 97,850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94360" y="5824728"/>
            <a:ext cx="11000232" cy="329184"/>
          </a:xfrm>
          <a:prstGeom prst="roundRect">
            <a:avLst>
              <a:gd name="adj" fmla="val 44444"/>
            </a:avLst>
          </a:prstGeom>
          <a:solidFill>
            <a:srgbClr val="212A2D"/>
          </a:solidFill>
          <a:ln w="12700">
            <a:solidFill>
              <a:srgbClr val="212A2D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9808" y="5861304"/>
            <a:ext cx="10680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Illustration uses 5% of the higher prior closing balance/equity. Actual contract rules govern.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C10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F6D343"/>
          </a:solidFill>
          <a:ln w="12700">
            <a:solidFill>
              <a:srgbClr val="F6D3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83464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43D4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D24   /   FTMO 2026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1100023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5F6F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One firm, multiple loss engines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6510528"/>
            <a:ext cx="11201400" cy="0"/>
          </a:xfrm>
          <a:prstGeom prst="line">
            <a:avLst/>
          </a:prstGeom>
          <a:noFill/>
          <a:ln w="15240">
            <a:solidFill>
              <a:srgbClr val="34404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1208" y="6556248"/>
            <a:ext cx="4983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A9B4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D24  •  BLUEBELLY LEARN  /  v1.0  /  30 OCT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559552" y="6556248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6674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ILLUSTRATIVE — NOT LIVE MARKET DATA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000232" y="653796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 / 15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30352" y="6263640"/>
            <a:ext cx="10881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674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 PATH  ftmo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658368" y="2423160"/>
            <a:ext cx="5294376" cy="2880360"/>
          </a:xfrm>
          <a:prstGeom prst="roundRect">
            <a:avLst>
              <a:gd name="adj" fmla="val 5079"/>
            </a:avLst>
          </a:prstGeom>
          <a:solidFill>
            <a:srgbClr val="171D20"/>
          </a:solidFill>
          <a:ln w="12700">
            <a:solidFill>
              <a:srgbClr val="171D20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" y="2423160"/>
            <a:ext cx="54864" cy="2880360"/>
          </a:xfrm>
          <a:prstGeom prst="roundRect">
            <a:avLst>
              <a:gd name="adj" fmla="val 266667"/>
            </a:avLst>
          </a:prstGeom>
          <a:solidFill>
            <a:srgbClr val="F6D343"/>
          </a:solidFill>
          <a:ln w="12700">
            <a:solidFill>
              <a:srgbClr val="F6D343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1248" y="2578608"/>
            <a:ext cx="49286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FTMO 1-STEP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859536" y="3072384"/>
            <a:ext cx="490118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5F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 current official objectives, daily allowance 3% of initial simulated capital; max-loss end-of-day trailing.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117336" y="2423160"/>
            <a:ext cx="5294376" cy="2880360"/>
          </a:xfrm>
          <a:prstGeom prst="roundRect">
            <a:avLst>
              <a:gd name="adj" fmla="val 5079"/>
            </a:avLst>
          </a:prstGeom>
          <a:solidFill>
            <a:srgbClr val="171D20"/>
          </a:solidFill>
          <a:ln w="12700">
            <a:solidFill>
              <a:srgbClr val="171D20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17336" y="2423160"/>
            <a:ext cx="54864" cy="2880360"/>
          </a:xfrm>
          <a:prstGeom prst="roundRect">
            <a:avLst>
              <a:gd name="adj" fmla="val 266667"/>
            </a:avLst>
          </a:prstGeom>
          <a:solidFill>
            <a:srgbClr val="43D4C2"/>
          </a:solidFill>
          <a:ln w="12700">
            <a:solidFill>
              <a:srgbClr val="43D4C2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00216" y="2578608"/>
            <a:ext cx="49286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43D4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FTMO 2-STEP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6318504" y="3072384"/>
            <a:ext cx="490118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5F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official objectives state 5% daily and 10% maximum static, with phase-specific conditions.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94360" y="5824728"/>
            <a:ext cx="11000232" cy="329184"/>
          </a:xfrm>
          <a:prstGeom prst="roundRect">
            <a:avLst>
              <a:gd name="adj" fmla="val 44444"/>
            </a:avLst>
          </a:prstGeom>
          <a:solidFill>
            <a:srgbClr val="212A2D"/>
          </a:solidFill>
          <a:ln w="12700">
            <a:solidFill>
              <a:srgbClr val="212A2D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9808" y="5861304"/>
            <a:ext cx="10680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Specific contract dates and account types are essential; never generalise from a comparison site.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C10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F6D343"/>
          </a:solidFill>
          <a:ln w="12700">
            <a:solidFill>
              <a:srgbClr val="F6D3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83464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43D4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D24   /   THE5ERS HIGH STAKES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1100023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5F6F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Daily snapshot is not simply yesterday’s final trade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6510528"/>
            <a:ext cx="11201400" cy="0"/>
          </a:xfrm>
          <a:prstGeom prst="line">
            <a:avLst/>
          </a:prstGeom>
          <a:noFill/>
          <a:ln w="15240">
            <a:solidFill>
              <a:srgbClr val="34404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1208" y="6556248"/>
            <a:ext cx="4983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A9B4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D24  •  BLUEBELLY LEARN  /  v1.0  /  30 OCT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559552" y="6556248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6674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ILLUSTRATIVE — NOT LIVE MARKET DATA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000232" y="653796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 / 15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30352" y="6263640"/>
            <a:ext cx="10881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674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 PATH  fivers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658368" y="2423160"/>
            <a:ext cx="5294376" cy="2880360"/>
          </a:xfrm>
          <a:prstGeom prst="roundRect">
            <a:avLst>
              <a:gd name="adj" fmla="val 5079"/>
            </a:avLst>
          </a:prstGeom>
          <a:solidFill>
            <a:srgbClr val="171D20"/>
          </a:solidFill>
          <a:ln w="12700">
            <a:solidFill>
              <a:srgbClr val="171D20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" y="2423160"/>
            <a:ext cx="54864" cy="2880360"/>
          </a:xfrm>
          <a:prstGeom prst="roundRect">
            <a:avLst>
              <a:gd name="adj" fmla="val 266667"/>
            </a:avLst>
          </a:prstGeom>
          <a:solidFill>
            <a:srgbClr val="F6D343"/>
          </a:solidFill>
          <a:ln w="12700">
            <a:solidFill>
              <a:srgbClr val="F6D343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1248" y="2578608"/>
            <a:ext cx="49286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HIGHER OF BALANCE / EQUITY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859536" y="3072384"/>
            <a:ext cx="490118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5F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firm states the 5% allowance uses the higher previous-day closing balance/equity at 00:00 server.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117336" y="2423160"/>
            <a:ext cx="5294376" cy="2880360"/>
          </a:xfrm>
          <a:prstGeom prst="roundRect">
            <a:avLst>
              <a:gd name="adj" fmla="val 5079"/>
            </a:avLst>
          </a:prstGeom>
          <a:solidFill>
            <a:srgbClr val="171D20"/>
          </a:solidFill>
          <a:ln w="12700">
            <a:solidFill>
              <a:srgbClr val="171D20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17336" y="2423160"/>
            <a:ext cx="54864" cy="2880360"/>
          </a:xfrm>
          <a:prstGeom prst="roundRect">
            <a:avLst>
              <a:gd name="adj" fmla="val 266667"/>
            </a:avLst>
          </a:prstGeom>
          <a:solidFill>
            <a:srgbClr val="43D4C2"/>
          </a:solidFill>
          <a:ln w="12700">
            <a:solidFill>
              <a:srgbClr val="43D4C2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00216" y="2578608"/>
            <a:ext cx="49286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43D4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FLOATING P&amp;L MATTERS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6318504" y="3072384"/>
            <a:ext cx="490118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5F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 overnight open loss and the reset can change permissible equity even without a fresh trade.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94360" y="5824728"/>
            <a:ext cx="11000232" cy="329184"/>
          </a:xfrm>
          <a:prstGeom prst="roundRect">
            <a:avLst>
              <a:gd name="adj" fmla="val 44444"/>
            </a:avLst>
          </a:prstGeom>
          <a:solidFill>
            <a:srgbClr val="212A2D"/>
          </a:solidFill>
          <a:ln w="12700">
            <a:solidFill>
              <a:srgbClr val="212A2D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9808" y="5861304"/>
            <a:ext cx="10680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Verified general FAQ dated September 2026; check your exact purchase/order contract.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C10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F6D343"/>
          </a:solidFill>
          <a:ln w="12700">
            <a:solidFill>
              <a:srgbClr val="F6D3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83464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43D4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D24   /   CONSISTENCY TRAP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1100023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5F6F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profitable day can delay qualification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6510528"/>
            <a:ext cx="11201400" cy="0"/>
          </a:xfrm>
          <a:prstGeom prst="line">
            <a:avLst/>
          </a:prstGeom>
          <a:noFill/>
          <a:ln w="15240">
            <a:solidFill>
              <a:srgbClr val="34404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1208" y="6556248"/>
            <a:ext cx="4983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A9B4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D24  •  BLUEBELLY LEARN  /  v1.0  /  30 OCT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559552" y="6556248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6674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ILLUSTRATIVE — NOT LIVE MARKET DATA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000232" y="653796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 / 15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30352" y="6263640"/>
            <a:ext cx="10881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674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 PATH  ftmo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658368" y="2404872"/>
            <a:ext cx="10835640" cy="3044952"/>
          </a:xfrm>
          <a:prstGeom prst="roundRect">
            <a:avLst>
              <a:gd name="adj" fmla="val 4805"/>
            </a:avLst>
          </a:prstGeom>
          <a:solidFill>
            <a:srgbClr val="171D20"/>
          </a:solidFill>
          <a:ln w="12700">
            <a:solidFill>
              <a:srgbClr val="171D20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2670048"/>
            <a:ext cx="10168128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700" b="1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DAY SHARE = BEST DAY / TOTAL</a:t>
            </a:r>
            <a:endParaRPr lang="en-US" sz="3700" dirty="0"/>
          </a:p>
        </p:txBody>
      </p:sp>
      <p:sp>
        <p:nvSpPr>
          <p:cNvPr id="12" name="Text 10"/>
          <p:cNvSpPr/>
          <p:nvPr/>
        </p:nvSpPr>
        <p:spPr>
          <a:xfrm>
            <a:off x="987552" y="3685032"/>
            <a:ext cx="100492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5F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+$6,000 / +$10,000 = 60%</a:t>
            </a:r>
            <a:endParaRPr lang="en-US" sz="2500" dirty="0"/>
          </a:p>
        </p:txBody>
      </p:sp>
      <p:sp>
        <p:nvSpPr>
          <p:cNvPr id="13" name="Text 11"/>
          <p:cNvSpPr/>
          <p:nvPr/>
        </p:nvSpPr>
        <p:spPr>
          <a:xfrm>
            <a:off x="1051560" y="4654296"/>
            <a:ext cx="996696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A9B4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Illustrative net-profit denominator; FTMO 1-Step post-12 Oct 2026 applies &lt;=50% consistency.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94360" y="5824728"/>
            <a:ext cx="11000232" cy="329184"/>
          </a:xfrm>
          <a:prstGeom prst="roundRect">
            <a:avLst>
              <a:gd name="adj" fmla="val 44444"/>
            </a:avLst>
          </a:prstGeom>
          <a:solidFill>
            <a:srgbClr val="212A2D"/>
          </a:solidFill>
          <a:ln w="12700">
            <a:solidFill>
              <a:srgbClr val="212A2D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9808" y="5861304"/>
            <a:ext cx="10680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Profit concentration can delay payout even without an equity breach.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C10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F6D343"/>
          </a:solidFill>
          <a:ln w="12700">
            <a:solidFill>
              <a:srgbClr val="F6D3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83464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43D4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D24   /   NEWS &amp; OPERATIONS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1100023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5F6F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Hidden restrictions can invalidate a valid trade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6510528"/>
            <a:ext cx="11201400" cy="0"/>
          </a:xfrm>
          <a:prstGeom prst="line">
            <a:avLst/>
          </a:prstGeom>
          <a:noFill/>
          <a:ln w="15240">
            <a:solidFill>
              <a:srgbClr val="34404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1208" y="6556248"/>
            <a:ext cx="4983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A9B4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D24  •  BLUEBELLY LEARN  /  v1.0  /  30 OCT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559552" y="6556248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6674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ILLUSTRATIVE — NOT LIVE MARKET DATA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000232" y="653796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/ 15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30352" y="6263640"/>
            <a:ext cx="10881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674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 PATH  fivers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612648" y="2441448"/>
            <a:ext cx="2619756" cy="2944368"/>
          </a:xfrm>
          <a:prstGeom prst="roundRect">
            <a:avLst>
              <a:gd name="adj" fmla="val 5585"/>
            </a:avLst>
          </a:prstGeom>
          <a:solidFill>
            <a:srgbClr val="171D20"/>
          </a:solidFill>
          <a:ln w="12700">
            <a:solidFill>
              <a:srgbClr val="171D20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12648" y="2441448"/>
            <a:ext cx="54864" cy="2944368"/>
          </a:xfrm>
          <a:prstGeom prst="roundRect">
            <a:avLst>
              <a:gd name="adj" fmla="val 266667"/>
            </a:avLst>
          </a:prstGeom>
          <a:solidFill>
            <a:srgbClr val="F6D343"/>
          </a:solidFill>
          <a:ln w="12700">
            <a:solidFill>
              <a:srgbClr val="F6D343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95528" y="2596896"/>
            <a:ext cx="22539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NEWS WINDOW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813816" y="3090672"/>
            <a:ext cx="2226564" cy="216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5F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Execution around high-impact releases may be restricted.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3396996" y="2441448"/>
            <a:ext cx="2619756" cy="2944368"/>
          </a:xfrm>
          <a:prstGeom prst="roundRect">
            <a:avLst>
              <a:gd name="adj" fmla="val 5585"/>
            </a:avLst>
          </a:prstGeom>
          <a:solidFill>
            <a:srgbClr val="171D20"/>
          </a:solidFill>
          <a:ln w="12700">
            <a:solidFill>
              <a:srgbClr val="171D20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396996" y="2441448"/>
            <a:ext cx="54864" cy="2944368"/>
          </a:xfrm>
          <a:prstGeom prst="roundRect">
            <a:avLst>
              <a:gd name="adj" fmla="val 266667"/>
            </a:avLst>
          </a:prstGeom>
          <a:solidFill>
            <a:srgbClr val="43D4C2"/>
          </a:solidFill>
          <a:ln w="12700">
            <a:solidFill>
              <a:srgbClr val="43D4C2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579876" y="2596896"/>
            <a:ext cx="22539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43D4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RESET CLOCK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3598164" y="3090672"/>
            <a:ext cx="2226564" cy="216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5F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Server time vs Malaysia time can cross a calendar day.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181344" y="2441448"/>
            <a:ext cx="2619756" cy="2944368"/>
          </a:xfrm>
          <a:prstGeom prst="roundRect">
            <a:avLst>
              <a:gd name="adj" fmla="val 5585"/>
            </a:avLst>
          </a:prstGeom>
          <a:solidFill>
            <a:srgbClr val="171D20"/>
          </a:solidFill>
          <a:ln w="12700">
            <a:solidFill>
              <a:srgbClr val="171D20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81344" y="2441448"/>
            <a:ext cx="54864" cy="2944368"/>
          </a:xfrm>
          <a:prstGeom prst="roundRect">
            <a:avLst>
              <a:gd name="adj" fmla="val 266667"/>
            </a:avLst>
          </a:prstGeom>
          <a:solidFill>
            <a:srgbClr val="98DDA5"/>
          </a:solidFill>
          <a:ln w="12700">
            <a:solidFill>
              <a:srgbClr val="98DDA5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64224" y="2596896"/>
            <a:ext cx="22539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98DD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OVERNIGHT HOLD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6382512" y="3090672"/>
            <a:ext cx="2226564" cy="216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5F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Floating equity and swaps count differently by firm.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8965692" y="2441448"/>
            <a:ext cx="2619756" cy="2944368"/>
          </a:xfrm>
          <a:prstGeom prst="roundRect">
            <a:avLst>
              <a:gd name="adj" fmla="val 5585"/>
            </a:avLst>
          </a:prstGeom>
          <a:solidFill>
            <a:srgbClr val="171D20"/>
          </a:solidFill>
          <a:ln w="12700">
            <a:solidFill>
              <a:srgbClr val="171D20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965692" y="2441448"/>
            <a:ext cx="54864" cy="2944368"/>
          </a:xfrm>
          <a:prstGeom prst="roundRect">
            <a:avLst>
              <a:gd name="adj" fmla="val 266667"/>
            </a:avLst>
          </a:prstGeom>
          <a:solidFill>
            <a:srgbClr val="8EBCE5"/>
          </a:solidFill>
          <a:ln w="12700">
            <a:solidFill>
              <a:srgbClr val="8EBCE5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8572" y="2596896"/>
            <a:ext cx="22539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8EBC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PAYOUT RULE</a:t>
            </a:r>
            <a:endParaRPr lang="en-US" sz="1900" dirty="0"/>
          </a:p>
        </p:txBody>
      </p:sp>
      <p:sp>
        <p:nvSpPr>
          <p:cNvPr id="25" name="Text 23"/>
          <p:cNvSpPr/>
          <p:nvPr/>
        </p:nvSpPr>
        <p:spPr>
          <a:xfrm>
            <a:off x="9166860" y="3090672"/>
            <a:ext cx="2226564" cy="216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5F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Eligibility, payout cap and account reset matter.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594360" y="5824728"/>
            <a:ext cx="11000232" cy="329184"/>
          </a:xfrm>
          <a:prstGeom prst="roundRect">
            <a:avLst>
              <a:gd name="adj" fmla="val 44444"/>
            </a:avLst>
          </a:prstGeom>
          <a:solidFill>
            <a:srgbClr val="212A2D"/>
          </a:solidFill>
          <a:ln w="12700">
            <a:solidFill>
              <a:srgbClr val="212A2D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49808" y="5861304"/>
            <a:ext cx="10680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 the firm’s actual rules on the intended order date.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C10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F6D343"/>
          </a:solidFill>
          <a:ln w="12700">
            <a:solidFill>
              <a:srgbClr val="F6D3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83464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43D4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D24   /   EVALUATION ECONOMICS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1100023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5F6F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fee is only one part of expected value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6510528"/>
            <a:ext cx="11201400" cy="0"/>
          </a:xfrm>
          <a:prstGeom prst="line">
            <a:avLst/>
          </a:prstGeom>
          <a:noFill/>
          <a:ln w="15240">
            <a:solidFill>
              <a:srgbClr val="34404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1208" y="6556248"/>
            <a:ext cx="4983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A9B4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D24  •  BLUEBELLY LEARN  /  v1.0  /  30 OCT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559552" y="6556248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6674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ILLUSTRATIVE — NOT LIVE MARKET DATA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000232" y="653796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 / 15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58368" y="2404872"/>
            <a:ext cx="10835640" cy="3044952"/>
          </a:xfrm>
          <a:prstGeom prst="roundRect">
            <a:avLst>
              <a:gd name="adj" fmla="val 4805"/>
            </a:avLst>
          </a:prstGeom>
          <a:solidFill>
            <a:srgbClr val="171D20"/>
          </a:solidFill>
          <a:ln w="12700">
            <a:solidFill>
              <a:srgbClr val="171D20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670048"/>
            <a:ext cx="10168128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700" b="1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NET VALUE ≈ PAYOUT×P(PAID) − COSTS</a:t>
            </a:r>
            <a:endParaRPr lang="en-US" sz="3700" dirty="0"/>
          </a:p>
        </p:txBody>
      </p:sp>
      <p:sp>
        <p:nvSpPr>
          <p:cNvPr id="11" name="Text 9"/>
          <p:cNvSpPr/>
          <p:nvPr/>
        </p:nvSpPr>
        <p:spPr>
          <a:xfrm>
            <a:off x="987552" y="3685032"/>
            <a:ext cx="100492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5F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Include retakes, fees, spreads, time, payout restrictions</a:t>
            </a:r>
            <a:endParaRPr lang="en-US" sz="2500" dirty="0"/>
          </a:p>
        </p:txBody>
      </p:sp>
      <p:sp>
        <p:nvSpPr>
          <p:cNvPr id="12" name="Text 10"/>
          <p:cNvSpPr/>
          <p:nvPr/>
        </p:nvSpPr>
        <p:spPr>
          <a:xfrm>
            <a:off x="1051560" y="4654296"/>
            <a:ext cx="996696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A9B4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probability or future payout is implied by illustrative equation.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94360" y="5824728"/>
            <a:ext cx="11000232" cy="329184"/>
          </a:xfrm>
          <a:prstGeom prst="roundRect">
            <a:avLst>
              <a:gd name="adj" fmla="val 44444"/>
            </a:avLst>
          </a:prstGeom>
          <a:solidFill>
            <a:srgbClr val="212A2D"/>
          </a:solidFill>
          <a:ln w="12700">
            <a:solidFill>
              <a:srgbClr val="212A2D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5861304"/>
            <a:ext cx="10680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strategy can have positive raw expectancy yet fail the daily breach constraint.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C10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F6D343"/>
          </a:solidFill>
          <a:ln w="12700">
            <a:solidFill>
              <a:srgbClr val="F6D3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83464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43D4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D24   /   TRUE RISK CAPITAL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1100023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5F6F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Choosing risk per trade for a prop evaluation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6510528"/>
            <a:ext cx="11201400" cy="0"/>
          </a:xfrm>
          <a:prstGeom prst="line">
            <a:avLst/>
          </a:prstGeom>
          <a:noFill/>
          <a:ln w="15240">
            <a:solidFill>
              <a:srgbClr val="34404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1208" y="6556248"/>
            <a:ext cx="4983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A9B4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D24  •  BLUEBELLY LEARN  /  v1.0  /  30 OCT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559552" y="6556248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6674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ILLUSTRATIVE — NOT LIVE MARKET DATA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000232" y="653796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 / 15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58368" y="2423160"/>
            <a:ext cx="5294376" cy="2880360"/>
          </a:xfrm>
          <a:prstGeom prst="roundRect">
            <a:avLst>
              <a:gd name="adj" fmla="val 5079"/>
            </a:avLst>
          </a:prstGeom>
          <a:solidFill>
            <a:srgbClr val="171D20"/>
          </a:solidFill>
          <a:ln w="12700">
            <a:solidFill>
              <a:srgbClr val="171D20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2423160"/>
            <a:ext cx="54864" cy="2880360"/>
          </a:xfrm>
          <a:prstGeom prst="roundRect">
            <a:avLst>
              <a:gd name="adj" fmla="val 266667"/>
            </a:avLst>
          </a:prstGeom>
          <a:solidFill>
            <a:srgbClr val="F6D343"/>
          </a:solidFill>
          <a:ln w="12700">
            <a:solidFill>
              <a:srgbClr val="F6D343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1248" y="2578608"/>
            <a:ext cx="49286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ADVERTISED BALANCE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859536" y="3072384"/>
            <a:ext cx="490118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5F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Controls some instrument sizing and profit target calculations, not your cash ownership.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17336" y="2423160"/>
            <a:ext cx="5294376" cy="2880360"/>
          </a:xfrm>
          <a:prstGeom prst="roundRect">
            <a:avLst>
              <a:gd name="adj" fmla="val 5079"/>
            </a:avLst>
          </a:prstGeom>
          <a:solidFill>
            <a:srgbClr val="171D20"/>
          </a:solidFill>
          <a:ln w="12700">
            <a:solidFill>
              <a:srgbClr val="171D20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17336" y="2423160"/>
            <a:ext cx="54864" cy="2880360"/>
          </a:xfrm>
          <a:prstGeom prst="roundRect">
            <a:avLst>
              <a:gd name="adj" fmla="val 266667"/>
            </a:avLst>
          </a:prstGeom>
          <a:solidFill>
            <a:srgbClr val="43D4C2"/>
          </a:solidFill>
          <a:ln w="12700">
            <a:solidFill>
              <a:srgbClr val="43D4C2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00216" y="2578608"/>
            <a:ext cx="49286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43D4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LOSS ALLOWANCE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6318504" y="3072384"/>
            <a:ext cx="490118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5F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actual scarce resource; subtract buffer for gaps, current drawdown and daily reset.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94360" y="5824728"/>
            <a:ext cx="11000232" cy="329184"/>
          </a:xfrm>
          <a:prstGeom prst="roundRect">
            <a:avLst>
              <a:gd name="adj" fmla="val 44444"/>
            </a:avLst>
          </a:prstGeom>
          <a:solidFill>
            <a:srgbClr val="212A2D"/>
          </a:solidFill>
          <a:ln w="12700">
            <a:solidFill>
              <a:srgbClr val="212A2D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9808" y="5861304"/>
            <a:ext cx="10680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Position size should respect the tighter of self-imposed and firm-imposed limits.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C10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F6D343"/>
          </a:solidFill>
          <a:ln w="12700">
            <a:solidFill>
              <a:srgbClr val="F6D3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83464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43D4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D24   /   ACCOUNT WORKSHEET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1100023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5F6F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Record all rules before buying the evaluation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6510528"/>
            <a:ext cx="11201400" cy="0"/>
          </a:xfrm>
          <a:prstGeom prst="line">
            <a:avLst/>
          </a:prstGeom>
          <a:noFill/>
          <a:ln w="15240">
            <a:solidFill>
              <a:srgbClr val="34404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1208" y="6556248"/>
            <a:ext cx="4983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A9B4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D24  •  BLUEBELLY LEARN  /  v1.0  /  30 OCT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559552" y="6556248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6674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ILLUSTRATIVE — NOT LIVE MARKET DATA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000232" y="653796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 / 15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58368" y="2304288"/>
            <a:ext cx="10835640" cy="612648"/>
          </a:xfrm>
          <a:prstGeom prst="roundRect">
            <a:avLst>
              <a:gd name="adj" fmla="val 23881"/>
            </a:avLst>
          </a:prstGeom>
          <a:solidFill>
            <a:srgbClr val="212A2D"/>
          </a:solidFill>
          <a:ln w="12700">
            <a:solidFill>
              <a:srgbClr val="212A2D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414016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   VERSION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663440" y="2395728"/>
            <a:ext cx="6583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5F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Firm, phase, size, date and complete terms.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58368" y="2990088"/>
            <a:ext cx="10835640" cy="612648"/>
          </a:xfrm>
          <a:prstGeom prst="roundRect">
            <a:avLst>
              <a:gd name="adj" fmla="val 23881"/>
            </a:avLst>
          </a:prstGeom>
          <a:solidFill>
            <a:srgbClr val="171D20"/>
          </a:solidFill>
          <a:ln w="12700">
            <a:solidFill>
              <a:srgbClr val="171D20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3099816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  LOSS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663440" y="3081528"/>
            <a:ext cx="6583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5F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Static/trailing, daily and exact breach comparator.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58368" y="3675888"/>
            <a:ext cx="10835640" cy="612648"/>
          </a:xfrm>
          <a:prstGeom prst="roundRect">
            <a:avLst>
              <a:gd name="adj" fmla="val 23881"/>
            </a:avLst>
          </a:prstGeom>
          <a:solidFill>
            <a:srgbClr val="212A2D"/>
          </a:solidFill>
          <a:ln w="12700">
            <a:solidFill>
              <a:srgbClr val="212A2D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3785616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  TIMING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663440" y="3767328"/>
            <a:ext cx="6583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5F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Daily reset, time zone and news restrictions.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58368" y="4361688"/>
            <a:ext cx="10835640" cy="612648"/>
          </a:xfrm>
          <a:prstGeom prst="roundRect">
            <a:avLst>
              <a:gd name="adj" fmla="val 23881"/>
            </a:avLst>
          </a:prstGeom>
          <a:solidFill>
            <a:srgbClr val="171D20"/>
          </a:solidFill>
          <a:ln w="12700">
            <a:solidFill>
              <a:srgbClr val="171D20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4471416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   OPERATIONS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663440" y="4453128"/>
            <a:ext cx="6583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5F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Consistency, inactivity, withdrawal and resets.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58368" y="5047488"/>
            <a:ext cx="10835640" cy="612648"/>
          </a:xfrm>
          <a:prstGeom prst="roundRect">
            <a:avLst>
              <a:gd name="adj" fmla="val 23881"/>
            </a:avLst>
          </a:prstGeom>
          <a:solidFill>
            <a:srgbClr val="212A2D"/>
          </a:solidFill>
          <a:ln w="12700">
            <a:solidFill>
              <a:srgbClr val="212A2D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5157216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   UNIT ECONOMICS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663440" y="5138928"/>
            <a:ext cx="6583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5F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Contract values, spreads, margin and costs.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94360" y="5824728"/>
            <a:ext cx="11000232" cy="329184"/>
          </a:xfrm>
          <a:prstGeom prst="roundRect">
            <a:avLst>
              <a:gd name="adj" fmla="val 44444"/>
            </a:avLst>
          </a:prstGeom>
          <a:solidFill>
            <a:srgbClr val="212A2D"/>
          </a:solidFill>
          <a:ln w="12700">
            <a:solidFill>
              <a:srgbClr val="212A2D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49808" y="5861304"/>
            <a:ext cx="10680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 not retrofit the rules after a rule violation.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C10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F6D343"/>
          </a:solidFill>
          <a:ln w="12700">
            <a:solidFill>
              <a:srgbClr val="F6D3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83464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43D4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D24   /   COMPLIANCE CHECK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1100023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5F6F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Can you do the contract arithmetic?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6510528"/>
            <a:ext cx="11201400" cy="0"/>
          </a:xfrm>
          <a:prstGeom prst="line">
            <a:avLst/>
          </a:prstGeom>
          <a:noFill/>
          <a:ln w="15240">
            <a:solidFill>
              <a:srgbClr val="34404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1208" y="6556248"/>
            <a:ext cx="4983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A9B4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D24  •  BLUEBELLY LEARN  /  v1.0  /  30 OCT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559552" y="6556248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6674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ILLUSTRATIVE — NOT LIVE MARKET DATA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000232" y="653796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 / 15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67512" y="2258568"/>
            <a:ext cx="10826496" cy="804672"/>
          </a:xfrm>
          <a:prstGeom prst="roundRect">
            <a:avLst>
              <a:gd name="adj" fmla="val 18182"/>
            </a:avLst>
          </a:prstGeom>
          <a:solidFill>
            <a:srgbClr val="171D20"/>
          </a:solidFill>
          <a:ln w="12700">
            <a:solidFill>
              <a:srgbClr val="171D20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423160"/>
            <a:ext cx="5486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72768" y="2359152"/>
            <a:ext cx="717804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5F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Equity $101k; binding floor $98k: headroom?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805672" y="2340864"/>
            <a:ext cx="22677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98DD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$3,000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67512" y="3200400"/>
            <a:ext cx="10826496" cy="804672"/>
          </a:xfrm>
          <a:prstGeom prst="roundRect">
            <a:avLst>
              <a:gd name="adj" fmla="val 18182"/>
            </a:avLst>
          </a:prstGeom>
          <a:solidFill>
            <a:srgbClr val="171D20"/>
          </a:solidFill>
          <a:ln w="12700">
            <a:solidFill>
              <a:srgbClr val="171D20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3364992"/>
            <a:ext cx="5486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572768" y="3300984"/>
            <a:ext cx="717804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5F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$6k best day of $10k profit: share?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8805672" y="3282696"/>
            <a:ext cx="22677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98DD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60%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67512" y="4142232"/>
            <a:ext cx="10826496" cy="804672"/>
          </a:xfrm>
          <a:prstGeom prst="roundRect">
            <a:avLst>
              <a:gd name="adj" fmla="val 18182"/>
            </a:avLst>
          </a:prstGeom>
          <a:solidFill>
            <a:srgbClr val="171D20"/>
          </a:solidFill>
          <a:ln w="12700">
            <a:solidFill>
              <a:srgbClr val="171D20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4306824"/>
            <a:ext cx="5486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572768" y="4242816"/>
            <a:ext cx="717804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5F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 one firm’s max loss be assumed for all products?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8805672" y="4224528"/>
            <a:ext cx="22677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98DD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94360" y="5824728"/>
            <a:ext cx="11000232" cy="329184"/>
          </a:xfrm>
          <a:prstGeom prst="roundRect">
            <a:avLst>
              <a:gd name="adj" fmla="val 44444"/>
            </a:avLst>
          </a:prstGeom>
          <a:solidFill>
            <a:srgbClr val="212A2D"/>
          </a:solidFill>
          <a:ln w="12700">
            <a:solidFill>
              <a:srgbClr val="212A2D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9808" y="5861304"/>
            <a:ext cx="10680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Bonus: equity includes unrealised P&amp;L; balance does not.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C10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F6D343"/>
          </a:solidFill>
          <a:ln w="12700">
            <a:solidFill>
              <a:srgbClr val="F6D3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83464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43D4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D24   /   FREE FURTHER LEARNING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1100023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5F6F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Check live rules by specific programme and vintage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6510528"/>
            <a:ext cx="11201400" cy="0"/>
          </a:xfrm>
          <a:prstGeom prst="line">
            <a:avLst/>
          </a:prstGeom>
          <a:noFill/>
          <a:ln w="15240">
            <a:solidFill>
              <a:srgbClr val="34404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1208" y="6556248"/>
            <a:ext cx="4983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A9B4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D24  •  BLUEBELLY LEARN  /  v1.0  /  30 OCT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559552" y="6556248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6674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ILLUSTRATIVE — NOT LIVE MARKET DATA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000232" y="653796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 / 15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58368" y="2267712"/>
            <a:ext cx="10844784" cy="566928"/>
          </a:xfrm>
          <a:prstGeom prst="roundRect">
            <a:avLst>
              <a:gd name="adj" fmla="val 25806"/>
            </a:avLst>
          </a:prstGeom>
          <a:solidFill>
            <a:srgbClr val="171D20"/>
          </a:solidFill>
          <a:ln w="12700">
            <a:solidFill>
              <a:srgbClr val="171D20">
                <a:alpha val="0"/>
              </a:srgbClr>
            </a:solidFill>
            <a:prstDash val="solid"/>
          </a:ln>
        </p:spPr>
      </p:sp>
      <p:sp>
        <p:nvSpPr>
          <p:cNvPr id="10" name="Text 8">
            <a:hlinkClick r:id="rId1" tooltip=""/>
          </p:cNvPr>
          <p:cNvSpPr/>
          <p:nvPr/>
        </p:nvSpPr>
        <p:spPr>
          <a:xfrm>
            <a:off x="914400" y="2359152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u="sng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FTMO objectives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206240" y="2350008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A9B4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1-Step, 2-Step and policy-effective dates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58368" y="2889504"/>
            <a:ext cx="10844784" cy="566928"/>
          </a:xfrm>
          <a:prstGeom prst="roundRect">
            <a:avLst>
              <a:gd name="adj" fmla="val 25806"/>
            </a:avLst>
          </a:prstGeom>
          <a:solidFill>
            <a:srgbClr val="171D20"/>
          </a:solidFill>
          <a:ln w="12700">
            <a:solidFill>
              <a:srgbClr val="171D20">
                <a:alpha val="0"/>
              </a:srgbClr>
            </a:solidFill>
            <a:prstDash val="solid"/>
          </a:ln>
        </p:spPr>
      </p:sp>
      <p:sp>
        <p:nvSpPr>
          <p:cNvPr id="13" name="Text 11">
            <a:hlinkClick r:id="rId2" tooltip=""/>
          </p:cNvPr>
          <p:cNvSpPr/>
          <p:nvPr/>
        </p:nvSpPr>
        <p:spPr>
          <a:xfrm>
            <a:off x="914400" y="2980944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u="sng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The5ers drawdown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206240" y="297180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A9B4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 Stakes daily snapshot definition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58368" y="3511296"/>
            <a:ext cx="10844784" cy="566928"/>
          </a:xfrm>
          <a:prstGeom prst="roundRect">
            <a:avLst>
              <a:gd name="adj" fmla="val 25806"/>
            </a:avLst>
          </a:prstGeom>
          <a:solidFill>
            <a:srgbClr val="171D20"/>
          </a:solidFill>
          <a:ln w="12700">
            <a:solidFill>
              <a:srgbClr val="171D20">
                <a:alpha val="0"/>
              </a:srgbClr>
            </a:solidFill>
            <a:prstDash val="solid"/>
          </a:ln>
        </p:spPr>
      </p:sp>
      <p:sp>
        <p:nvSpPr>
          <p:cNvPr id="16" name="Text 14">
            <a:hlinkClick r:id="rId3" tooltip=""/>
          </p:cNvPr>
          <p:cNvSpPr/>
          <p:nvPr/>
        </p:nvSpPr>
        <p:spPr>
          <a:xfrm>
            <a:off x="914400" y="3602736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u="sng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The5ers programme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206240" y="3593592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A9B4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News and operational restrictions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58368" y="4133088"/>
            <a:ext cx="10844784" cy="566928"/>
          </a:xfrm>
          <a:prstGeom prst="roundRect">
            <a:avLst>
              <a:gd name="adj" fmla="val 25806"/>
            </a:avLst>
          </a:prstGeom>
          <a:solidFill>
            <a:srgbClr val="171D20"/>
          </a:solidFill>
          <a:ln w="12700">
            <a:solidFill>
              <a:srgbClr val="171D20">
                <a:alpha val="0"/>
              </a:srgbClr>
            </a:solidFill>
            <a:prstDash val="solid"/>
          </a:ln>
        </p:spPr>
      </p:sp>
      <p:sp>
        <p:nvSpPr>
          <p:cNvPr id="19" name="Text 17">
            <a:hlinkClick r:id="rId4" tooltip=""/>
          </p:cNvPr>
          <p:cNvSpPr/>
          <p:nvPr/>
        </p:nvSpPr>
        <p:spPr>
          <a:xfrm>
            <a:off x="914400" y="4224528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u="sng" dirty="0">
                <a:solidFill>
                  <a:srgbClr val="F6D343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Bluebelly Learn 16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206240" y="4215384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A9B4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 budget and prop scenario exercises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94360" y="5833872"/>
            <a:ext cx="11000232" cy="329184"/>
          </a:xfrm>
          <a:prstGeom prst="roundRect">
            <a:avLst>
              <a:gd name="adj" fmla="val 44444"/>
            </a:avLst>
          </a:prstGeom>
          <a:solidFill>
            <a:srgbClr val="212A2D"/>
          </a:solidFill>
          <a:ln w="12700">
            <a:solidFill>
              <a:srgbClr val="212A2D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9808" y="5870448"/>
            <a:ext cx="10680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43D4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External works remain outbound links; these decks contain original editorial diagrams and hypothetical exercises.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Bluebelly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Prop Challenge Is a Drawdown Game</dc:title>
  <dc:subject>Original lessons and clearly hypothetical examples; external references linked only.</dc:subject>
  <dc:creator>Bluebelly Learn editorial</dc:creator>
  <cp:lastModifiedBy>Bluebelly Learn editorial</cp:lastModifiedBy>
  <cp:revision>1</cp:revision>
  <dcterms:created xsi:type="dcterms:W3CDTF">2026-10-30T02:01:29Z</dcterms:created>
  <dcterms:modified xsi:type="dcterms:W3CDTF">2026-10-30T02:01:29Z</dcterms:modified>
</cp:coreProperties>
</file>