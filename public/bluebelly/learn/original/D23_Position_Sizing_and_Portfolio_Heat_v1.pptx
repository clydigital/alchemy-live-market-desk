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cmegroup.com/education/courses/trade-and-risk-management/proper-position-size" TargetMode="External"/><Relationship Id="rId2" Type="http://schemas.openxmlformats.org/officeDocument/2006/relationships/hyperlink" Target="https://www.cmegroup.com/education/courses/trade-and-risk-management/the-2-percent-rule" TargetMode="External"/><Relationship Id="rId3" Type="http://schemas.openxmlformats.org/officeDocument/2006/relationships/hyperlink" Target="https://app.notion.com/p/409519b67a948106aee2c729dac23f92" TargetMode="External"/><Relationship Id="rId4" Type="http://schemas.openxmlformats.org/officeDocument/2006/relationships/hyperlink" Target="https://app.notion.com/p/409519b67a9481d98bf4f4d2d831b2bd" TargetMode="Externa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10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6D343"/>
          </a:solidFill>
          <a:ln w="12700">
            <a:solidFill>
              <a:srgbClr val="F6D3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83464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43D4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D23   /   RISK FIRST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100023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5F6F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Position Sizing: How Much Can I Actually Lose?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12648" y="1664208"/>
            <a:ext cx="10744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trading lesson about stops, lots, ticks, leverage and portfolio heat.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6510528"/>
            <a:ext cx="11201400" cy="0"/>
          </a:xfrm>
          <a:prstGeom prst="line">
            <a:avLst/>
          </a:prstGeom>
          <a:noFill/>
          <a:ln w="15240">
            <a:solidFill>
              <a:srgbClr val="34404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21208" y="6556248"/>
            <a:ext cx="4983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D23  •  BLUEBELLY LEARN  /  v1.0  /  30 OCT 2026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559552" y="655624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67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ILLUSTRATIVE — NOT LIVE MARKET DATA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00232" y="653796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/ 16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03504" y="2286000"/>
            <a:ext cx="10927080" cy="3127248"/>
          </a:xfrm>
          <a:prstGeom prst="roundRect">
            <a:avLst>
              <a:gd name="adj" fmla="val 4678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2706624"/>
            <a:ext cx="1024128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STOP DETERMINES THE SIZE.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941832" y="3593592"/>
            <a:ext cx="9966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Decide where the idea is wrong before deciding how large the trade should be.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768096" y="5769864"/>
            <a:ext cx="5212080" cy="301752"/>
          </a:xfrm>
          <a:prstGeom prst="roundRect">
            <a:avLst>
              <a:gd name="adj" fmla="val 48485"/>
            </a:avLst>
          </a:prstGeom>
          <a:solidFill>
            <a:srgbClr val="212A2D"/>
          </a:solidFill>
          <a:ln w="12700">
            <a:solidFill>
              <a:srgbClr val="212A2D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9536" y="5769864"/>
            <a:ext cx="5029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43D4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STORY-FIRST  /  ORIGINAL DIAGRAMS  /  SOURCE-LINKED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C10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6D343"/>
          </a:solidFill>
          <a:ln w="12700">
            <a:solidFill>
              <a:srgbClr val="F6D3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83464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43D4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D23   /   THE TRADER’S MISTAKE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100023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5F6F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You like the setup. But is the contract too large?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6510528"/>
            <a:ext cx="11201400" cy="0"/>
          </a:xfrm>
          <a:prstGeom prst="line">
            <a:avLst/>
          </a:prstGeom>
          <a:noFill/>
          <a:ln w="15240">
            <a:solidFill>
              <a:srgbClr val="3440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6556248"/>
            <a:ext cx="4983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D23  •  BLUEBELLY LEARN  /  v1.0  /  30 OCT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559552" y="655624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67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ILLUSTRATIVE — NOT LIVE MARKET DATA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000232" y="653796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/ 16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58368" y="2331720"/>
            <a:ext cx="10789920" cy="2953512"/>
          </a:xfrm>
          <a:prstGeom prst="roundRect">
            <a:avLst>
              <a:gd name="adj" fmla="val 4954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395728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0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</a:t>
            </a:r>
            <a:endParaRPr lang="en-US" sz="6400" dirty="0"/>
          </a:p>
        </p:txBody>
      </p:sp>
      <p:sp>
        <p:nvSpPr>
          <p:cNvPr id="11" name="Text 9"/>
          <p:cNvSpPr/>
          <p:nvPr/>
        </p:nvSpPr>
        <p:spPr>
          <a:xfrm>
            <a:off x="1307592" y="2615184"/>
            <a:ext cx="96926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“My risk limit is $50, and one contract can lose $125.”</a:t>
            </a:r>
            <a:endParaRPr lang="en-US" sz="3100" dirty="0"/>
          </a:p>
        </p:txBody>
      </p:sp>
      <p:sp>
        <p:nvSpPr>
          <p:cNvPr id="12" name="Text 10"/>
          <p:cNvSpPr/>
          <p:nvPr/>
        </p:nvSpPr>
        <p:spPr>
          <a:xfrm>
            <a:off x="1353312" y="4599432"/>
            <a:ext cx="9601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43D4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correct position may be zero contracts — not a tighter arbitrary stop.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C10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6D343"/>
          </a:solidFill>
          <a:ln w="12700">
            <a:solidFill>
              <a:srgbClr val="F6D3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83464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43D4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D23   /   THE ORDER OF OPERATIONS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100023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5F6F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 these calculations before clicking buy/sell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6510528"/>
            <a:ext cx="11201400" cy="0"/>
          </a:xfrm>
          <a:prstGeom prst="line">
            <a:avLst/>
          </a:prstGeom>
          <a:noFill/>
          <a:ln w="15240">
            <a:solidFill>
              <a:srgbClr val="3440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6556248"/>
            <a:ext cx="4983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D23  •  BLUEBELLY LEARN  /  v1.0  /  30 OCT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559552" y="655624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67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ILLUSTRATIVE — NOT LIVE MARKET DATA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000232" y="653796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/ 16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30352" y="6263640"/>
            <a:ext cx="10881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7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PATH  cmeRisk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640080" y="2651760"/>
            <a:ext cx="2553462" cy="2212848"/>
          </a:xfrm>
          <a:prstGeom prst="roundRect">
            <a:avLst>
              <a:gd name="adj" fmla="val 6612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4672" y="2843784"/>
            <a:ext cx="227914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86384" y="3364992"/>
            <a:ext cx="226085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Invalidation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86384" y="3941064"/>
            <a:ext cx="226085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Structure-based stop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193542" y="3712464"/>
            <a:ext cx="223479" cy="0"/>
          </a:xfrm>
          <a:prstGeom prst="line">
            <a:avLst/>
          </a:prstGeom>
          <a:noFill/>
          <a:ln w="25400">
            <a:solidFill>
              <a:srgbClr val="43D4C2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3431286" y="2651760"/>
            <a:ext cx="2553462" cy="2212848"/>
          </a:xfrm>
          <a:prstGeom prst="roundRect">
            <a:avLst>
              <a:gd name="adj" fmla="val 6612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95878" y="2843784"/>
            <a:ext cx="227914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577590" y="3364992"/>
            <a:ext cx="226085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Price distance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577590" y="3941064"/>
            <a:ext cx="226085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Entry vs stop in units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984748" y="3712464"/>
            <a:ext cx="223479" cy="0"/>
          </a:xfrm>
          <a:prstGeom prst="line">
            <a:avLst/>
          </a:prstGeom>
          <a:noFill/>
          <a:ln w="25400">
            <a:solidFill>
              <a:srgbClr val="43D4C2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222492" y="2651760"/>
            <a:ext cx="2553462" cy="2212848"/>
          </a:xfrm>
          <a:prstGeom prst="roundRect">
            <a:avLst>
              <a:gd name="adj" fmla="val 6612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87084" y="2843784"/>
            <a:ext cx="227914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368796" y="3364992"/>
            <a:ext cx="226085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Dollar risk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368796" y="3941064"/>
            <a:ext cx="226085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Tick/pip/point value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775954" y="3712464"/>
            <a:ext cx="223479" cy="0"/>
          </a:xfrm>
          <a:prstGeom prst="line">
            <a:avLst/>
          </a:prstGeom>
          <a:noFill/>
          <a:ln w="25400">
            <a:solidFill>
              <a:srgbClr val="43D4C2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9013698" y="2651760"/>
            <a:ext cx="2553462" cy="2212848"/>
          </a:xfrm>
          <a:prstGeom prst="roundRect">
            <a:avLst>
              <a:gd name="adj" fmla="val 6612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78290" y="2843784"/>
            <a:ext cx="227914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9160002" y="3364992"/>
            <a:ext cx="226085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Size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9160002" y="3941064"/>
            <a:ext cx="226085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Round to real lot/contract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94360" y="5824728"/>
            <a:ext cx="11000232" cy="329184"/>
          </a:xfrm>
          <a:prstGeom prst="roundRect">
            <a:avLst>
              <a:gd name="adj" fmla="val 44444"/>
            </a:avLst>
          </a:prstGeom>
          <a:solidFill>
            <a:srgbClr val="212A2D"/>
          </a:solidFill>
          <a:ln w="12700">
            <a:solidFill>
              <a:srgbClr val="212A2D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49808" y="5861304"/>
            <a:ext cx="10680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expected spread, commission and slippage, then recalculate effective exposure.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C10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6D343"/>
          </a:solidFill>
          <a:ln w="12700">
            <a:solidFill>
              <a:srgbClr val="F6D3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83464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43D4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D23   /   THE CORE EQUATION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100023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5F6F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Size derives from money at risk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6510528"/>
            <a:ext cx="11201400" cy="0"/>
          </a:xfrm>
          <a:prstGeom prst="line">
            <a:avLst/>
          </a:prstGeom>
          <a:noFill/>
          <a:ln w="15240">
            <a:solidFill>
              <a:srgbClr val="3440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6556248"/>
            <a:ext cx="4983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D23  •  BLUEBELLY LEARN  /  v1.0  /  30 OCT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559552" y="655624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67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ILLUSTRATIVE — NOT LIVE MARKET DATA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000232" y="653796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/ 16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58368" y="2404872"/>
            <a:ext cx="10835640" cy="3044952"/>
          </a:xfrm>
          <a:prstGeom prst="roundRect">
            <a:avLst>
              <a:gd name="adj" fmla="val 4805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670048"/>
            <a:ext cx="10168128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700" b="1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SIZE ≈ RISK $ / STOP RISK PER UNIT</a:t>
            </a:r>
            <a:endParaRPr lang="en-US" sz="3700" dirty="0"/>
          </a:p>
        </p:txBody>
      </p:sp>
      <p:sp>
        <p:nvSpPr>
          <p:cNvPr id="11" name="Text 9"/>
          <p:cNvSpPr/>
          <p:nvPr/>
        </p:nvSpPr>
        <p:spPr>
          <a:xfrm>
            <a:off x="987552" y="3685032"/>
            <a:ext cx="100492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$50 / ($5 × 25 ticks) = 0.4</a:t>
            </a:r>
            <a:endParaRPr lang="en-US" sz="2500" dirty="0"/>
          </a:p>
        </p:txBody>
      </p:sp>
      <p:sp>
        <p:nvSpPr>
          <p:cNvPr id="12" name="Text 10"/>
          <p:cNvSpPr/>
          <p:nvPr/>
        </p:nvSpPr>
        <p:spPr>
          <a:xfrm>
            <a:off x="1051560" y="4654296"/>
            <a:ext cx="996696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Illustrative $50 risk budget; $5 per tick and 25-tick stop.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94360" y="5824728"/>
            <a:ext cx="11000232" cy="329184"/>
          </a:xfrm>
          <a:prstGeom prst="roundRect">
            <a:avLst>
              <a:gd name="adj" fmla="val 44444"/>
            </a:avLst>
          </a:prstGeom>
          <a:solidFill>
            <a:srgbClr val="212A2D"/>
          </a:solidFill>
          <a:ln w="12700">
            <a:solidFill>
              <a:srgbClr val="212A2D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5861304"/>
            <a:ext cx="10680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minimum tradable size is 1 contract, the trade fails the risk test.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C10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6D343"/>
          </a:solidFill>
          <a:ln w="12700">
            <a:solidFill>
              <a:srgbClr val="F6D3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83464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43D4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D23   /   YOUR RISK BUDGET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100023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5F6F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one contract would exceed the plan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6510528"/>
            <a:ext cx="11201400" cy="0"/>
          </a:xfrm>
          <a:prstGeom prst="line">
            <a:avLst/>
          </a:prstGeom>
          <a:noFill/>
          <a:ln w="15240">
            <a:solidFill>
              <a:srgbClr val="3440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6556248"/>
            <a:ext cx="4983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D23  •  BLUEBELLY LEARN  /  v1.0  /  30 OCT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559552" y="655624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67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ILLUSTRATIVE — NOT LIVE MARKET DATA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000232" y="653796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/ 16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30352" y="6263640"/>
            <a:ext cx="10881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7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PATH  cmeRisk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676656" y="2276856"/>
            <a:ext cx="10835640" cy="3236976"/>
          </a:xfrm>
          <a:prstGeom prst="roundRect">
            <a:avLst>
              <a:gd name="adj" fmla="val 4520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50976" y="2423160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Original instructional illustration — NOT observed price data.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60120" y="274320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EQUITY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3474720" y="2743200"/>
            <a:ext cx="5870448" cy="310896"/>
          </a:xfrm>
          <a:prstGeom prst="roundRect">
            <a:avLst>
              <a:gd name="adj" fmla="val 47059"/>
            </a:avLst>
          </a:prstGeom>
          <a:solidFill>
            <a:srgbClr val="344045"/>
          </a:solidFill>
          <a:ln w="12700">
            <a:solidFill>
              <a:srgbClr val="344045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74720" y="2743200"/>
            <a:ext cx="5870448" cy="310896"/>
          </a:xfrm>
          <a:prstGeom prst="roundRect">
            <a:avLst>
              <a:gd name="adj" fmla="val 47059"/>
            </a:avLst>
          </a:prstGeom>
          <a:solidFill>
            <a:srgbClr val="667478"/>
          </a:solidFill>
          <a:ln w="12700">
            <a:solidFill>
              <a:srgbClr val="667478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01200" y="274320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667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$10,000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60120" y="347472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 LIMIT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3474720" y="3474720"/>
            <a:ext cx="5870448" cy="310896"/>
          </a:xfrm>
          <a:prstGeom prst="roundRect">
            <a:avLst>
              <a:gd name="adj" fmla="val 47059"/>
            </a:avLst>
          </a:prstGeom>
          <a:solidFill>
            <a:srgbClr val="344045"/>
          </a:solidFill>
          <a:ln w="12700">
            <a:solidFill>
              <a:srgbClr val="344045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474720" y="3474720"/>
            <a:ext cx="469636" cy="310896"/>
          </a:xfrm>
          <a:prstGeom prst="roundRect">
            <a:avLst>
              <a:gd name="adj" fmla="val 47059"/>
            </a:avLst>
          </a:prstGeom>
          <a:solidFill>
            <a:srgbClr val="F6D343"/>
          </a:solidFill>
          <a:ln w="12700">
            <a:solidFill>
              <a:srgbClr val="F6D343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01200" y="347472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$50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60120" y="420624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CONTRACT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474720" y="4206240"/>
            <a:ext cx="5870448" cy="310896"/>
          </a:xfrm>
          <a:prstGeom prst="roundRect">
            <a:avLst>
              <a:gd name="adj" fmla="val 47059"/>
            </a:avLst>
          </a:prstGeom>
          <a:solidFill>
            <a:srgbClr val="344045"/>
          </a:solidFill>
          <a:ln w="12700">
            <a:solidFill>
              <a:srgbClr val="344045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474720" y="4206240"/>
            <a:ext cx="1467612" cy="310896"/>
          </a:xfrm>
          <a:prstGeom prst="roundRect">
            <a:avLst>
              <a:gd name="adj" fmla="val 47059"/>
            </a:avLst>
          </a:prstGeom>
          <a:solidFill>
            <a:srgbClr val="FF8C7D"/>
          </a:solidFill>
          <a:ln w="12700">
            <a:solidFill>
              <a:srgbClr val="FF8C7D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01200" y="420624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8C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$125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94360" y="5824728"/>
            <a:ext cx="11000232" cy="329184"/>
          </a:xfrm>
          <a:prstGeom prst="roundRect">
            <a:avLst>
              <a:gd name="adj" fmla="val 44444"/>
            </a:avLst>
          </a:prstGeom>
          <a:solidFill>
            <a:srgbClr val="212A2D"/>
          </a:solidFill>
          <a:ln w="12700">
            <a:solidFill>
              <a:srgbClr val="212A2D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9808" y="5861304"/>
            <a:ext cx="10680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contract × 25 ticks × $5 = $125 risk; planned budget is $50.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C10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6D343"/>
          </a:solidFill>
          <a:ln w="12700">
            <a:solidFill>
              <a:srgbClr val="F6D3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83464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43D4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D23   /   FOUR DIFFERENT UNITS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100023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5F6F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trade’s size is not its margin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6510528"/>
            <a:ext cx="11201400" cy="0"/>
          </a:xfrm>
          <a:prstGeom prst="line">
            <a:avLst/>
          </a:prstGeom>
          <a:noFill/>
          <a:ln w="15240">
            <a:solidFill>
              <a:srgbClr val="3440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6556248"/>
            <a:ext cx="4983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D23  •  BLUEBELLY LEARN  /  v1.0  /  30 OCT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559552" y="655624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67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ILLUSTRATIVE — NOT LIVE MARKET DATA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000232" y="653796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/ 16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12648" y="2441448"/>
            <a:ext cx="2619756" cy="2944368"/>
          </a:xfrm>
          <a:prstGeom prst="roundRect">
            <a:avLst>
              <a:gd name="adj" fmla="val 5585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2648" y="2441448"/>
            <a:ext cx="54864" cy="2944368"/>
          </a:xfrm>
          <a:prstGeom prst="roundRect">
            <a:avLst>
              <a:gd name="adj" fmla="val 266667"/>
            </a:avLst>
          </a:prstGeom>
          <a:solidFill>
            <a:srgbClr val="F6D343"/>
          </a:solidFill>
          <a:ln w="12700">
            <a:solidFill>
              <a:srgbClr val="F6D343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5528" y="2596896"/>
            <a:ext cx="22539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NOTIONAL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813816" y="3090672"/>
            <a:ext cx="2226564" cy="216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economic exposure to price moves.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3396996" y="2441448"/>
            <a:ext cx="2619756" cy="2944368"/>
          </a:xfrm>
          <a:prstGeom prst="roundRect">
            <a:avLst>
              <a:gd name="adj" fmla="val 5585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396996" y="2441448"/>
            <a:ext cx="54864" cy="2944368"/>
          </a:xfrm>
          <a:prstGeom prst="roundRect">
            <a:avLst>
              <a:gd name="adj" fmla="val 266667"/>
            </a:avLst>
          </a:prstGeom>
          <a:solidFill>
            <a:srgbClr val="43D4C2"/>
          </a:solidFill>
          <a:ln w="12700">
            <a:solidFill>
              <a:srgbClr val="43D4C2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79876" y="2596896"/>
            <a:ext cx="22539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43D4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MARGIN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3598164" y="3090672"/>
            <a:ext cx="2226564" cy="216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Collateral required to maintain the trade.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181344" y="2441448"/>
            <a:ext cx="2619756" cy="2944368"/>
          </a:xfrm>
          <a:prstGeom prst="roundRect">
            <a:avLst>
              <a:gd name="adj" fmla="val 5585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81344" y="2441448"/>
            <a:ext cx="54864" cy="2944368"/>
          </a:xfrm>
          <a:prstGeom prst="roundRect">
            <a:avLst>
              <a:gd name="adj" fmla="val 266667"/>
            </a:avLst>
          </a:prstGeom>
          <a:solidFill>
            <a:srgbClr val="98DDA5"/>
          </a:solidFill>
          <a:ln w="12700">
            <a:solidFill>
              <a:srgbClr val="98DDA5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64224" y="2596896"/>
            <a:ext cx="22539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98DD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STOP RISK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6382512" y="3090672"/>
            <a:ext cx="2226564" cy="216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Expected loss at stop under assumed fill conditions.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8965692" y="2441448"/>
            <a:ext cx="2619756" cy="2944368"/>
          </a:xfrm>
          <a:prstGeom prst="roundRect">
            <a:avLst>
              <a:gd name="adj" fmla="val 5585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965692" y="2441448"/>
            <a:ext cx="54864" cy="2944368"/>
          </a:xfrm>
          <a:prstGeom prst="roundRect">
            <a:avLst>
              <a:gd name="adj" fmla="val 266667"/>
            </a:avLst>
          </a:prstGeom>
          <a:solidFill>
            <a:srgbClr val="8EBCE5"/>
          </a:solidFill>
          <a:ln w="12700">
            <a:solidFill>
              <a:srgbClr val="8EBCE5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8572" y="2596896"/>
            <a:ext cx="22539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8EBC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PORTFOLIO RISK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9166860" y="3090672"/>
            <a:ext cx="2226564" cy="216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Combined risk from all related positions.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594360" y="5824728"/>
            <a:ext cx="11000232" cy="329184"/>
          </a:xfrm>
          <a:prstGeom prst="roundRect">
            <a:avLst>
              <a:gd name="adj" fmla="val 44444"/>
            </a:avLst>
          </a:prstGeom>
          <a:solidFill>
            <a:srgbClr val="212A2D"/>
          </a:solidFill>
          <a:ln w="12700">
            <a:solidFill>
              <a:srgbClr val="212A2D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49808" y="5861304"/>
            <a:ext cx="10680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high-leverage position can have a small posted margin and a large loss.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C10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6D343"/>
          </a:solidFill>
          <a:ln w="12700">
            <a:solidFill>
              <a:srgbClr val="F6D3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83464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43D4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D23   /   RISK PERCENT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100023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5F6F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modest percentage is still real money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6510528"/>
            <a:ext cx="11201400" cy="0"/>
          </a:xfrm>
          <a:prstGeom prst="line">
            <a:avLst/>
          </a:prstGeom>
          <a:noFill/>
          <a:ln w="15240">
            <a:solidFill>
              <a:srgbClr val="3440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6556248"/>
            <a:ext cx="4983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D23  •  BLUEBELLY LEARN  /  v1.0  /  30 OCT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559552" y="655624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67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ILLUSTRATIVE — NOT LIVE MARKET DATA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000232" y="653796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 / 16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58368" y="2404872"/>
            <a:ext cx="10835640" cy="3044952"/>
          </a:xfrm>
          <a:prstGeom prst="roundRect">
            <a:avLst>
              <a:gd name="adj" fmla="val 4805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670048"/>
            <a:ext cx="10168128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700" b="1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 $ = CAPITAL × RISK FRACTION</a:t>
            </a:r>
            <a:endParaRPr lang="en-US" sz="3700" dirty="0"/>
          </a:p>
        </p:txBody>
      </p:sp>
      <p:sp>
        <p:nvSpPr>
          <p:cNvPr id="11" name="Text 9"/>
          <p:cNvSpPr/>
          <p:nvPr/>
        </p:nvSpPr>
        <p:spPr>
          <a:xfrm>
            <a:off x="987552" y="3685032"/>
            <a:ext cx="100492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$10,000 × 0.5% = $50</a:t>
            </a:r>
            <a:endParaRPr lang="en-US" sz="2500" dirty="0"/>
          </a:p>
        </p:txBody>
      </p:sp>
      <p:sp>
        <p:nvSpPr>
          <p:cNvPr id="12" name="Text 10"/>
          <p:cNvSpPr/>
          <p:nvPr/>
        </p:nvSpPr>
        <p:spPr>
          <a:xfrm>
            <a:off x="1051560" y="4654296"/>
            <a:ext cx="996696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Illustrative risk-budget choice, not a universal safe allocation.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94360" y="5824728"/>
            <a:ext cx="11000232" cy="329184"/>
          </a:xfrm>
          <a:prstGeom prst="roundRect">
            <a:avLst>
              <a:gd name="adj" fmla="val 44444"/>
            </a:avLst>
          </a:prstGeom>
          <a:solidFill>
            <a:srgbClr val="212A2D"/>
          </a:solidFill>
          <a:ln w="12700">
            <a:solidFill>
              <a:srgbClr val="212A2D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5861304"/>
            <a:ext cx="10680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the capital genuinely at risk, not an advertised prop notional balance.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C10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6D343"/>
          </a:solidFill>
          <a:ln w="12700">
            <a:solidFill>
              <a:srgbClr val="F6D3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83464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43D4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D23   /   ATR STOP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100023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5F6F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Volatility-aware does not mean guaranteed protection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6510528"/>
            <a:ext cx="11201400" cy="0"/>
          </a:xfrm>
          <a:prstGeom prst="line">
            <a:avLst/>
          </a:prstGeom>
          <a:noFill/>
          <a:ln w="15240">
            <a:solidFill>
              <a:srgbClr val="3440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6556248"/>
            <a:ext cx="4983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D23  •  BLUEBELLY LEARN  /  v1.0  /  30 OCT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559552" y="655624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67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ILLUSTRATIVE — NOT LIVE MARKET DATA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000232" y="653796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 / 16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58368" y="2423160"/>
            <a:ext cx="5294376" cy="2880360"/>
          </a:xfrm>
          <a:prstGeom prst="roundRect">
            <a:avLst>
              <a:gd name="adj" fmla="val 5079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2423160"/>
            <a:ext cx="54864" cy="2880360"/>
          </a:xfrm>
          <a:prstGeom prst="roundRect">
            <a:avLst>
              <a:gd name="adj" fmla="val 266667"/>
            </a:avLst>
          </a:prstGeom>
          <a:solidFill>
            <a:srgbClr val="F6D343"/>
          </a:solidFill>
          <a:ln w="12700">
            <a:solidFill>
              <a:srgbClr val="F6D343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" y="2578608"/>
            <a:ext cx="4928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ATR DISTANCE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859536" y="3072384"/>
            <a:ext cx="490118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 ATR multiple scales proposed stop distance to recent range; choose multiplier in advance.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17336" y="2423160"/>
            <a:ext cx="5294376" cy="2880360"/>
          </a:xfrm>
          <a:prstGeom prst="roundRect">
            <a:avLst>
              <a:gd name="adj" fmla="val 5079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17336" y="2423160"/>
            <a:ext cx="54864" cy="2880360"/>
          </a:xfrm>
          <a:prstGeom prst="roundRect">
            <a:avLst>
              <a:gd name="adj" fmla="val 266667"/>
            </a:avLst>
          </a:prstGeom>
          <a:solidFill>
            <a:srgbClr val="43D4C2"/>
          </a:solidFill>
          <a:ln w="12700">
            <a:solidFill>
              <a:srgbClr val="43D4C2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0216" y="2578608"/>
            <a:ext cx="4928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43D4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STRUCTURAL INVALIDATION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6318504" y="3072384"/>
            <a:ext cx="490118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chart level should invalidate the setup; ATR may buffer normal volatility.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94360" y="5824728"/>
            <a:ext cx="11000232" cy="329184"/>
          </a:xfrm>
          <a:prstGeom prst="roundRect">
            <a:avLst>
              <a:gd name="adj" fmla="val 44444"/>
            </a:avLst>
          </a:prstGeom>
          <a:solidFill>
            <a:srgbClr val="212A2D"/>
          </a:solidFill>
          <a:ln w="12700">
            <a:solidFill>
              <a:srgbClr val="212A2D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9808" y="5861304"/>
            <a:ext cx="10680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Both affect dollar risk; change in stop distance requires a new size calculation.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C10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6D343"/>
          </a:solidFill>
          <a:ln w="12700">
            <a:solidFill>
              <a:srgbClr val="F6D3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83464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43D4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D23   /   PARTIALS AND PYRAMIDING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100023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5F6F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More entries mean new portfolio arithmetic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6510528"/>
            <a:ext cx="11201400" cy="0"/>
          </a:xfrm>
          <a:prstGeom prst="line">
            <a:avLst/>
          </a:prstGeom>
          <a:noFill/>
          <a:ln w="15240">
            <a:solidFill>
              <a:srgbClr val="3440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6556248"/>
            <a:ext cx="4983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D23  •  BLUEBELLY LEARN  /  v1.0  /  30 OCT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559552" y="655624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67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ILLUSTRATIVE — NOT LIVE MARKET DATA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000232" y="653796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 / 16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58368" y="2404872"/>
            <a:ext cx="10835640" cy="3044952"/>
          </a:xfrm>
          <a:prstGeom prst="roundRect">
            <a:avLst>
              <a:gd name="adj" fmla="val 4805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670048"/>
            <a:ext cx="10168128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700" b="1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RISK = Σ STOP LOSS EACH LEG</a:t>
            </a:r>
            <a:endParaRPr lang="en-US" sz="3700" dirty="0"/>
          </a:p>
        </p:txBody>
      </p:sp>
      <p:sp>
        <p:nvSpPr>
          <p:cNvPr id="11" name="Text 9"/>
          <p:cNvSpPr/>
          <p:nvPr/>
        </p:nvSpPr>
        <p:spPr>
          <a:xfrm>
            <a:off x="987552" y="3685032"/>
            <a:ext cx="100492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0.4R + 0.3R + 0.2R = 0.9R</a:t>
            </a:r>
            <a:endParaRPr lang="en-US" sz="2500" dirty="0"/>
          </a:p>
        </p:txBody>
      </p:sp>
      <p:sp>
        <p:nvSpPr>
          <p:cNvPr id="12" name="Text 10"/>
          <p:cNvSpPr/>
          <p:nvPr/>
        </p:nvSpPr>
        <p:spPr>
          <a:xfrm>
            <a:off x="1051560" y="4654296"/>
            <a:ext cx="996696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Hypothetical legs on same idea before gaps and transaction costs.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94360" y="5824728"/>
            <a:ext cx="11000232" cy="329184"/>
          </a:xfrm>
          <a:prstGeom prst="roundRect">
            <a:avLst>
              <a:gd name="adj" fmla="val 44444"/>
            </a:avLst>
          </a:prstGeom>
          <a:solidFill>
            <a:srgbClr val="212A2D"/>
          </a:solidFill>
          <a:ln w="12700">
            <a:solidFill>
              <a:srgbClr val="212A2D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5861304"/>
            <a:ext cx="10680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Unrealised gains are not guaranteed funds for a new pyramid.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C10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6D343"/>
          </a:solidFill>
          <a:ln w="12700">
            <a:solidFill>
              <a:srgbClr val="F6D3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83464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43D4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D23   /   CORRELATION TRAP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100023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5F6F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Four tickets can be one macro trade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6510528"/>
            <a:ext cx="11201400" cy="0"/>
          </a:xfrm>
          <a:prstGeom prst="line">
            <a:avLst/>
          </a:prstGeom>
          <a:noFill/>
          <a:ln w="15240">
            <a:solidFill>
              <a:srgbClr val="3440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6556248"/>
            <a:ext cx="4983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D23  •  BLUEBELLY LEARN  /  v1.0  /  30 OCT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559552" y="655624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67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ILLUSTRATIVE — NOT LIVE MARKET DATA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000232" y="653796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/ 16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12648" y="2441448"/>
            <a:ext cx="2619756" cy="2944368"/>
          </a:xfrm>
          <a:prstGeom prst="roundRect">
            <a:avLst>
              <a:gd name="adj" fmla="val 5585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2648" y="2441448"/>
            <a:ext cx="54864" cy="2944368"/>
          </a:xfrm>
          <a:prstGeom prst="roundRect">
            <a:avLst>
              <a:gd name="adj" fmla="val 266667"/>
            </a:avLst>
          </a:prstGeom>
          <a:solidFill>
            <a:srgbClr val="F6D343"/>
          </a:solidFill>
          <a:ln w="12700">
            <a:solidFill>
              <a:srgbClr val="F6D343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5528" y="2596896"/>
            <a:ext cx="22539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LONG DXY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813816" y="3090672"/>
            <a:ext cx="2226564" cy="216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Often expresses USD strength against its basket.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3396996" y="2441448"/>
            <a:ext cx="2619756" cy="2944368"/>
          </a:xfrm>
          <a:prstGeom prst="roundRect">
            <a:avLst>
              <a:gd name="adj" fmla="val 5585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396996" y="2441448"/>
            <a:ext cx="54864" cy="2944368"/>
          </a:xfrm>
          <a:prstGeom prst="roundRect">
            <a:avLst>
              <a:gd name="adj" fmla="val 266667"/>
            </a:avLst>
          </a:prstGeom>
          <a:solidFill>
            <a:srgbClr val="43D4C2"/>
          </a:solidFill>
          <a:ln w="12700">
            <a:solidFill>
              <a:srgbClr val="43D4C2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79876" y="2596896"/>
            <a:ext cx="22539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43D4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SHORT EURUSD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3598164" y="3090672"/>
            <a:ext cx="2226564" cy="216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Typically another directional USD-long exposure.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181344" y="2441448"/>
            <a:ext cx="2619756" cy="2944368"/>
          </a:xfrm>
          <a:prstGeom prst="roundRect">
            <a:avLst>
              <a:gd name="adj" fmla="val 5585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81344" y="2441448"/>
            <a:ext cx="54864" cy="2944368"/>
          </a:xfrm>
          <a:prstGeom prst="roundRect">
            <a:avLst>
              <a:gd name="adj" fmla="val 266667"/>
            </a:avLst>
          </a:prstGeom>
          <a:solidFill>
            <a:srgbClr val="98DDA5"/>
          </a:solidFill>
          <a:ln w="12700">
            <a:solidFill>
              <a:srgbClr val="98DDA5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64224" y="2596896"/>
            <a:ext cx="22539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98DD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LONG USDJPY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6382512" y="3090672"/>
            <a:ext cx="2226564" cy="216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USD-long but also Japan-specific and carry-sensitive.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8965692" y="2441448"/>
            <a:ext cx="2619756" cy="2944368"/>
          </a:xfrm>
          <a:prstGeom prst="roundRect">
            <a:avLst>
              <a:gd name="adj" fmla="val 5585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965692" y="2441448"/>
            <a:ext cx="54864" cy="2944368"/>
          </a:xfrm>
          <a:prstGeom prst="roundRect">
            <a:avLst>
              <a:gd name="adj" fmla="val 266667"/>
            </a:avLst>
          </a:prstGeom>
          <a:solidFill>
            <a:srgbClr val="8EBCE5"/>
          </a:solidFill>
          <a:ln w="12700">
            <a:solidFill>
              <a:srgbClr val="8EBCE5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8572" y="2596896"/>
            <a:ext cx="22539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8EBC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LONG TECH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9166860" y="3090672"/>
            <a:ext cx="2226564" cy="216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Might add duration/risk appetite exposure.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594360" y="5824728"/>
            <a:ext cx="11000232" cy="329184"/>
          </a:xfrm>
          <a:prstGeom prst="roundRect">
            <a:avLst>
              <a:gd name="adj" fmla="val 44444"/>
            </a:avLst>
          </a:prstGeom>
          <a:solidFill>
            <a:srgbClr val="212A2D"/>
          </a:solidFill>
          <a:ln w="12700">
            <a:solidFill>
              <a:srgbClr val="212A2D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49808" y="5861304"/>
            <a:ext cx="10680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Count shared scenario loss, not just the number of symbols.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C10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6D343"/>
          </a:solidFill>
          <a:ln w="12700">
            <a:solidFill>
              <a:srgbClr val="F6D3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83464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43D4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D23   /   DRAWDOWN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100023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5F6F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Losses and recoveries are asymmetric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6510528"/>
            <a:ext cx="11201400" cy="0"/>
          </a:xfrm>
          <a:prstGeom prst="line">
            <a:avLst/>
          </a:prstGeom>
          <a:noFill/>
          <a:ln w="15240">
            <a:solidFill>
              <a:srgbClr val="3440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6556248"/>
            <a:ext cx="4983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D23  •  BLUEBELLY LEARN  /  v1.0  /  30 OCT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559552" y="655624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67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ILLUSTRATIVE — NOT LIVE MARKET DATA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000232" y="653796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 / 16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58368" y="2404872"/>
            <a:ext cx="10835640" cy="3044952"/>
          </a:xfrm>
          <a:prstGeom prst="roundRect">
            <a:avLst>
              <a:gd name="adj" fmla="val 4805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670048"/>
            <a:ext cx="10168128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700" b="1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RECOVERY = LOSS / (1−LOSS)</a:t>
            </a:r>
            <a:endParaRPr lang="en-US" sz="3700" dirty="0"/>
          </a:p>
        </p:txBody>
      </p:sp>
      <p:sp>
        <p:nvSpPr>
          <p:cNvPr id="11" name="Text 9"/>
          <p:cNvSpPr/>
          <p:nvPr/>
        </p:nvSpPr>
        <p:spPr>
          <a:xfrm>
            <a:off x="987552" y="3685032"/>
            <a:ext cx="100492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−10% needs +11.11%; −50% needs +100%</a:t>
            </a:r>
            <a:endParaRPr lang="en-US" sz="2500" dirty="0"/>
          </a:p>
        </p:txBody>
      </p:sp>
      <p:sp>
        <p:nvSpPr>
          <p:cNvPr id="12" name="Text 10"/>
          <p:cNvSpPr/>
          <p:nvPr/>
        </p:nvSpPr>
        <p:spPr>
          <a:xfrm>
            <a:off x="1051560" y="4654296"/>
            <a:ext cx="996696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Percentages measured against the pre-loss starting equity.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94360" y="5824728"/>
            <a:ext cx="11000232" cy="329184"/>
          </a:xfrm>
          <a:prstGeom prst="roundRect">
            <a:avLst>
              <a:gd name="adj" fmla="val 44444"/>
            </a:avLst>
          </a:prstGeom>
          <a:solidFill>
            <a:srgbClr val="212A2D"/>
          </a:solidFill>
          <a:ln w="12700">
            <a:solidFill>
              <a:srgbClr val="212A2D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5861304"/>
            <a:ext cx="10680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Aggressively increasing risk after a drawdown compounds vulnerability.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C10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6D343"/>
          </a:solidFill>
          <a:ln w="12700">
            <a:solidFill>
              <a:srgbClr val="F6D3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83464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43D4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D23   /   EXPECTANCY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100023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5F6F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Reward/risk alone does not establish an edge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6510528"/>
            <a:ext cx="11201400" cy="0"/>
          </a:xfrm>
          <a:prstGeom prst="line">
            <a:avLst/>
          </a:prstGeom>
          <a:noFill/>
          <a:ln w="15240">
            <a:solidFill>
              <a:srgbClr val="3440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6556248"/>
            <a:ext cx="4983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D23  •  BLUEBELLY LEARN  /  v1.0  /  30 OCT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559552" y="655624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67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ILLUSTRATIVE — NOT LIVE MARKET DATA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000232" y="653796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 / 16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58368" y="2404872"/>
            <a:ext cx="10835640" cy="3044952"/>
          </a:xfrm>
          <a:prstGeom prst="roundRect">
            <a:avLst>
              <a:gd name="adj" fmla="val 4805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670048"/>
            <a:ext cx="10168128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700" b="1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 = P(win)×WIN − P(loss)×LOSS</a:t>
            </a:r>
            <a:endParaRPr lang="en-US" sz="3700" dirty="0"/>
          </a:p>
        </p:txBody>
      </p:sp>
      <p:sp>
        <p:nvSpPr>
          <p:cNvPr id="11" name="Text 9"/>
          <p:cNvSpPr/>
          <p:nvPr/>
        </p:nvSpPr>
        <p:spPr>
          <a:xfrm>
            <a:off x="987552" y="3685032"/>
            <a:ext cx="100492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0.45×2R − 0.55×1R = +0.35R</a:t>
            </a:r>
            <a:endParaRPr lang="en-US" sz="2500" dirty="0"/>
          </a:p>
        </p:txBody>
      </p:sp>
      <p:sp>
        <p:nvSpPr>
          <p:cNvPr id="12" name="Text 10"/>
          <p:cNvSpPr/>
          <p:nvPr/>
        </p:nvSpPr>
        <p:spPr>
          <a:xfrm>
            <a:off x="1051560" y="4654296"/>
            <a:ext cx="996696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Hypothetical stable win rate and payoff before spreads and slippage.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94360" y="5824728"/>
            <a:ext cx="11000232" cy="329184"/>
          </a:xfrm>
          <a:prstGeom prst="roundRect">
            <a:avLst>
              <a:gd name="adj" fmla="val 44444"/>
            </a:avLst>
          </a:prstGeom>
          <a:solidFill>
            <a:srgbClr val="212A2D"/>
          </a:solidFill>
          <a:ln w="12700">
            <a:solidFill>
              <a:srgbClr val="212A2D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5861304"/>
            <a:ext cx="10680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2R target with fewer winners may have worse expectancy, not better.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C10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6D343"/>
          </a:solidFill>
          <a:ln w="12700">
            <a:solidFill>
              <a:srgbClr val="F6D3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83464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43D4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D23   /   EXECUTION FRICTION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100023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5F6F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Stops can lose more than the model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6510528"/>
            <a:ext cx="11201400" cy="0"/>
          </a:xfrm>
          <a:prstGeom prst="line">
            <a:avLst/>
          </a:prstGeom>
          <a:noFill/>
          <a:ln w="15240">
            <a:solidFill>
              <a:srgbClr val="3440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6556248"/>
            <a:ext cx="4983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D23  •  BLUEBELLY LEARN  /  v1.0  /  30 OCT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559552" y="655624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67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ILLUSTRATIVE — NOT LIVE MARKET DATA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000232" y="653796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 / 16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67512" y="2331720"/>
            <a:ext cx="10808208" cy="694944"/>
          </a:xfrm>
          <a:prstGeom prst="roundRect">
            <a:avLst>
              <a:gd name="adj" fmla="val 21053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77824" y="2459736"/>
            <a:ext cx="3200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Spread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023360" y="2432304"/>
            <a:ext cx="6766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Real entry/exit prices differ from plotted mid-price.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67512" y="3154680"/>
            <a:ext cx="10808208" cy="694944"/>
          </a:xfrm>
          <a:prstGeom prst="roundRect">
            <a:avLst>
              <a:gd name="adj" fmla="val 21053"/>
            </a:avLst>
          </a:prstGeom>
          <a:solidFill>
            <a:srgbClr val="212A2D"/>
          </a:solidFill>
          <a:ln w="12700">
            <a:solidFill>
              <a:srgbClr val="212A2D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77824" y="3282696"/>
            <a:ext cx="3200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Slippage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023360" y="3255264"/>
            <a:ext cx="6766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Stops are execution instructions, not price guarantees.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67512" y="3977640"/>
            <a:ext cx="10808208" cy="694944"/>
          </a:xfrm>
          <a:prstGeom prst="roundRect">
            <a:avLst>
              <a:gd name="adj" fmla="val 21053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77824" y="4105656"/>
            <a:ext cx="3200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Gap / news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023360" y="4078224"/>
            <a:ext cx="6766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Overnight and release gaps can jump beyond stop.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67512" y="4800600"/>
            <a:ext cx="10808208" cy="694944"/>
          </a:xfrm>
          <a:prstGeom prst="roundRect">
            <a:avLst>
              <a:gd name="adj" fmla="val 21053"/>
            </a:avLst>
          </a:prstGeom>
          <a:solidFill>
            <a:srgbClr val="212A2D"/>
          </a:solidFill>
          <a:ln w="12700">
            <a:solidFill>
              <a:srgbClr val="212A2D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77824" y="4928616"/>
            <a:ext cx="3200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Liquidity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4023360" y="4901184"/>
            <a:ext cx="6766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Market depth changes under stress; fills vary.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C10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6D343"/>
          </a:solidFill>
          <a:ln w="12700">
            <a:solidFill>
              <a:srgbClr val="F6D3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83464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43D4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D23   /   PRE-FLIGHT CARD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100023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5F6F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Five checks that protect the account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6510528"/>
            <a:ext cx="11201400" cy="0"/>
          </a:xfrm>
          <a:prstGeom prst="line">
            <a:avLst/>
          </a:prstGeom>
          <a:noFill/>
          <a:ln w="15240">
            <a:solidFill>
              <a:srgbClr val="3440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6556248"/>
            <a:ext cx="4983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D23  •  BLUEBELLY LEARN  /  v1.0  /  30 OCT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559552" y="655624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67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ILLUSTRATIVE — NOT LIVE MARKET DATA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000232" y="653796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 / 16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58368" y="2304288"/>
            <a:ext cx="10835640" cy="612648"/>
          </a:xfrm>
          <a:prstGeom prst="roundRect">
            <a:avLst>
              <a:gd name="adj" fmla="val 23881"/>
            </a:avLst>
          </a:prstGeom>
          <a:solidFill>
            <a:srgbClr val="212A2D"/>
          </a:solidFill>
          <a:ln w="12700">
            <a:solidFill>
              <a:srgbClr val="212A2D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414016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  THESIS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663440" y="2395728"/>
            <a:ext cx="6583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makes this setup worth the risk?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58368" y="2990088"/>
            <a:ext cx="10835640" cy="612648"/>
          </a:xfrm>
          <a:prstGeom prst="roundRect">
            <a:avLst>
              <a:gd name="adj" fmla="val 23881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099816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  STOP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663440" y="3081528"/>
            <a:ext cx="6583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Exactly what would disprove it?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58368" y="3675888"/>
            <a:ext cx="10835640" cy="612648"/>
          </a:xfrm>
          <a:prstGeom prst="roundRect">
            <a:avLst>
              <a:gd name="adj" fmla="val 23881"/>
            </a:avLst>
          </a:prstGeom>
          <a:solidFill>
            <a:srgbClr val="212A2D"/>
          </a:solidFill>
          <a:ln w="12700">
            <a:solidFill>
              <a:srgbClr val="212A2D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3785616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  SIZE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663440" y="3767328"/>
            <a:ext cx="6583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 full-size stop loss within budget incl costs?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58368" y="4361688"/>
            <a:ext cx="10835640" cy="612648"/>
          </a:xfrm>
          <a:prstGeom prst="roundRect">
            <a:avLst>
              <a:gd name="adj" fmla="val 23881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4471416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  HEAT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663440" y="4453128"/>
            <a:ext cx="6583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happens if correlated positions fail together?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58368" y="5047488"/>
            <a:ext cx="10835640" cy="612648"/>
          </a:xfrm>
          <a:prstGeom prst="roundRect">
            <a:avLst>
              <a:gd name="adj" fmla="val 23881"/>
            </a:avLst>
          </a:prstGeom>
          <a:solidFill>
            <a:srgbClr val="212A2D"/>
          </a:solidFill>
          <a:ln w="12700">
            <a:solidFill>
              <a:srgbClr val="212A2D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5157216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  EXIT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663440" y="5138928"/>
            <a:ext cx="6583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When to stop, reduce or avoid trading?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94360" y="5824728"/>
            <a:ext cx="11000232" cy="329184"/>
          </a:xfrm>
          <a:prstGeom prst="roundRect">
            <a:avLst>
              <a:gd name="adj" fmla="val 44444"/>
            </a:avLst>
          </a:prstGeom>
          <a:solidFill>
            <a:srgbClr val="212A2D"/>
          </a:solidFill>
          <a:ln w="12700">
            <a:solidFill>
              <a:srgbClr val="212A2D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9808" y="5861304"/>
            <a:ext cx="10680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Record estimates before the trade, not reconstructed after the result.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C10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6D343"/>
          </a:solidFill>
          <a:ln w="12700">
            <a:solidFill>
              <a:srgbClr val="F6D3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83464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43D4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D23   /   FINAL RISK CHECK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100023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5F6F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is the correct size?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6510528"/>
            <a:ext cx="11201400" cy="0"/>
          </a:xfrm>
          <a:prstGeom prst="line">
            <a:avLst/>
          </a:prstGeom>
          <a:noFill/>
          <a:ln w="15240">
            <a:solidFill>
              <a:srgbClr val="3440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6556248"/>
            <a:ext cx="4983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D23  •  BLUEBELLY LEARN  /  v1.0  /  30 OCT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559552" y="655624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67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ILLUSTRATIVE — NOT LIVE MARKET DATA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000232" y="653796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 / 16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67512" y="2258568"/>
            <a:ext cx="10826496" cy="804672"/>
          </a:xfrm>
          <a:prstGeom prst="roundRect">
            <a:avLst>
              <a:gd name="adj" fmla="val 18182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423160"/>
            <a:ext cx="5486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72768" y="2359152"/>
            <a:ext cx="71780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$50 budget, 25 ticks at $5: full contracts?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805672" y="2340864"/>
            <a:ext cx="22677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98DD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Zero (min = 1)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67512" y="3200400"/>
            <a:ext cx="10826496" cy="804672"/>
          </a:xfrm>
          <a:prstGeom prst="roundRect">
            <a:avLst>
              <a:gd name="adj" fmla="val 18182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3364992"/>
            <a:ext cx="5486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572768" y="3300984"/>
            <a:ext cx="71780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Equity falls 20%: recovery required?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805672" y="3282696"/>
            <a:ext cx="22677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98DD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25%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67512" y="4142232"/>
            <a:ext cx="10826496" cy="804672"/>
          </a:xfrm>
          <a:prstGeom prst="roundRect">
            <a:avLst>
              <a:gd name="adj" fmla="val 18182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4306824"/>
            <a:ext cx="5486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572768" y="4242816"/>
            <a:ext cx="71780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Does 1% risk × four USD trades mean diversified?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8805672" y="4224528"/>
            <a:ext cx="22677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98DD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94360" y="5824728"/>
            <a:ext cx="11000232" cy="329184"/>
          </a:xfrm>
          <a:prstGeom prst="roundRect">
            <a:avLst>
              <a:gd name="adj" fmla="val 44444"/>
            </a:avLst>
          </a:prstGeom>
          <a:solidFill>
            <a:srgbClr val="212A2D"/>
          </a:solidFill>
          <a:ln w="12700">
            <a:solidFill>
              <a:srgbClr val="212A2D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9808" y="5861304"/>
            <a:ext cx="10680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Sizing should survive plausible adverse fills and firm-specific limits.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C10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6D343"/>
          </a:solidFill>
          <a:ln w="12700">
            <a:solidFill>
              <a:srgbClr val="F6D3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83464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43D4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D23   /   FREE FURTHER LEARNING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100023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5F6F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Reference the exchange teaching, not generic online tips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6510528"/>
            <a:ext cx="11201400" cy="0"/>
          </a:xfrm>
          <a:prstGeom prst="line">
            <a:avLst/>
          </a:prstGeom>
          <a:noFill/>
          <a:ln w="15240">
            <a:solidFill>
              <a:srgbClr val="3440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6556248"/>
            <a:ext cx="4983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D23  •  BLUEBELLY LEARN  /  v1.0  /  30 OCT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559552" y="655624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67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ILLUSTRATIVE — NOT LIVE MARKET DATA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000232" y="653796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 / 16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58368" y="2267712"/>
            <a:ext cx="10844784" cy="566928"/>
          </a:xfrm>
          <a:prstGeom prst="roundRect">
            <a:avLst>
              <a:gd name="adj" fmla="val 25806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10" name="Text 8">
            <a:hlinkClick r:id="rId1" tooltip=""/>
          </p:cNvPr>
          <p:cNvSpPr/>
          <p:nvPr/>
        </p:nvSpPr>
        <p:spPr>
          <a:xfrm>
            <a:off x="914400" y="2359152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u="sng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CME sizing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206240" y="2350008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Stop, tick value and unit sizing method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58368" y="2889504"/>
            <a:ext cx="10844784" cy="566928"/>
          </a:xfrm>
          <a:prstGeom prst="roundRect">
            <a:avLst>
              <a:gd name="adj" fmla="val 25806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13" name="Text 11">
            <a:hlinkClick r:id="rId2" tooltip=""/>
          </p:cNvPr>
          <p:cNvSpPr/>
          <p:nvPr/>
        </p:nvSpPr>
        <p:spPr>
          <a:xfrm>
            <a:off x="914400" y="2980944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u="sng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CME risk education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206240" y="297180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Illustrative allocation; no universal rule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58368" y="3511296"/>
            <a:ext cx="10844784" cy="566928"/>
          </a:xfrm>
          <a:prstGeom prst="roundRect">
            <a:avLst>
              <a:gd name="adj" fmla="val 25806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16" name="Text 14">
            <a:hlinkClick r:id="rId3" tooltip=""/>
          </p:cNvPr>
          <p:cNvSpPr/>
          <p:nvPr/>
        </p:nvSpPr>
        <p:spPr>
          <a:xfrm>
            <a:off x="914400" y="3602736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u="sng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Bluebelly Learn 16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206240" y="3593592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Sizing, expectancy and execution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58368" y="4133088"/>
            <a:ext cx="10844784" cy="566928"/>
          </a:xfrm>
          <a:prstGeom prst="roundRect">
            <a:avLst>
              <a:gd name="adj" fmla="val 25806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19" name="Text 17">
            <a:hlinkClick r:id="rId4" tooltip=""/>
          </p:cNvPr>
          <p:cNvSpPr/>
          <p:nvPr/>
        </p:nvSpPr>
        <p:spPr>
          <a:xfrm>
            <a:off x="914400" y="4224528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u="sng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Bluebelly glossary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206240" y="4215384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ATR, Invalidation and proposed sizing terms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94360" y="5833872"/>
            <a:ext cx="11000232" cy="329184"/>
          </a:xfrm>
          <a:prstGeom prst="roundRect">
            <a:avLst>
              <a:gd name="adj" fmla="val 44444"/>
            </a:avLst>
          </a:prstGeom>
          <a:solidFill>
            <a:srgbClr val="212A2D"/>
          </a:solidFill>
          <a:ln w="12700">
            <a:solidFill>
              <a:srgbClr val="212A2D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9808" y="5870448"/>
            <a:ext cx="10680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43D4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External works remain outbound links; these decks contain original editorial diagrams and hypothetical exercises.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Bluebelly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Position Sizing: How Much Can I Actually Lose?</dc:title>
  <dc:subject>Original lessons and clearly hypothetical examples; external references linked only.</dc:subject>
  <dc:creator>Bluebelly Learn editorial</dc:creator>
  <cp:lastModifiedBy>Bluebelly Learn editorial</cp:lastModifiedBy>
  <cp:revision>1</cp:revision>
  <dcterms:created xsi:type="dcterms:W3CDTF">2026-10-30T02:01:29Z</dcterms:created>
  <dcterms:modified xsi:type="dcterms:W3CDTF">2026-10-30T02:01:29Z</dcterms:modified>
</cp:coreProperties>
</file>